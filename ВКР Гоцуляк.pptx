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embeddedFontLst>
    <p:embeddedFont>
      <p:font typeface="Manrope" pitchFamily="34" charset="0"/>
      <p:regular r:id="rId17"/>
      <p:bold r:id="rId18"/>
    </p:embeddedFont>
    <p:embeddedFont>
      <p:font typeface="JetBrains Mono" panose="02000009000000000000" pitchFamily="49"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93713"/>
          </a:xfrm>
          <a:prstGeom prst="rect">
            <a:avLst/>
          </a:prstGeom>
          <a:noFill/>
          <a:ln/>
        </p:spPr>
        <p:txBody>
          <a:bodyPr wrap="square" lIns="0" tIns="0" rIns="0" bIns="0" rtlCol="0" anchor="t"/>
          <a:lstStyle>
            <a:lvl1pPr algn="l" indent="0" marL="0">
              <a:lnSpc>
                <a:spcPct val="115000"/>
              </a:lnSpc>
              <a:buNone/>
              <a:defRPr lang="en-US" sz="3600" dirty="0">
                <a:solidFill>
                  <a:srgbClr val="0D0D0D"/>
                </a:solidFill>
                <a:latin typeface="Manrope" pitchFamily="34" charset="0"/>
                <a:ea typeface="Manrope" pitchFamily="34" charset="-122"/>
                <a:cs typeface="Manrop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11313"/>
            <a:ext cx="10566400" cy="4433888"/>
          </a:xfrm>
          <a:prstGeom prst="rect">
            <a:avLst/>
          </a:prstGeom>
          <a:noFill/>
          <a:ln/>
        </p:spPr>
        <p:txBody>
          <a:bodyPr wrap="square" lIns="0" tIns="0" rIns="0" bIns="0" rtlCol="0" anchor="t"/>
          <a:lstStyle>
            <a:lvl1pPr algn="l" indent="0" marL="0">
              <a:lnSpc>
                <a:spcPct val="140000"/>
              </a:lnSpc>
              <a:buNone/>
              <a:defRPr lang="en-US" sz="1600" dirty="0">
                <a:solidFill>
                  <a:srgbClr val="0D0D0D"/>
                </a:solidFill>
                <a:latin typeface="Manrope" pitchFamily="34" charset="0"/>
                <a:ea typeface="Manrope" pitchFamily="34" charset="-122"/>
                <a:cs typeface="Manrope"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93713"/>
          </a:xfrm>
          <a:prstGeom prst="rect">
            <a:avLst/>
          </a:prstGeom>
          <a:noFill/>
          <a:ln/>
        </p:spPr>
        <p:txBody>
          <a:bodyPr wrap="square" lIns="0" tIns="0" rIns="0" bIns="0" rtlCol="0" anchor="t"/>
          <a:lstStyle>
            <a:lvl1pPr algn="l" indent="0" marL="0">
              <a:lnSpc>
                <a:spcPct val="115000"/>
              </a:lnSpc>
              <a:buNone/>
              <a:defRPr lang="en-US" sz="3600" dirty="0">
                <a:solidFill>
                  <a:srgbClr val="0D0D0D"/>
                </a:solidFill>
                <a:latin typeface="Manrope" pitchFamily="34" charset="0"/>
                <a:ea typeface="Manrope" pitchFamily="34" charset="-122"/>
                <a:cs typeface="Manrop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11313"/>
            <a:ext cx="10566400" cy="4433888"/>
          </a:xfrm>
          <a:prstGeom prst="rect">
            <a:avLst/>
          </a:prstGeom>
          <a:noFill/>
          <a:ln/>
        </p:spPr>
        <p:txBody>
          <a:bodyPr wrap="square" lIns="0" tIns="0" rIns="0" bIns="0" rtlCol="0" anchor="t"/>
          <a:lstStyle>
            <a:lvl1pPr algn="l" indent="0" marL="0">
              <a:lnSpc>
                <a:spcPct val="140000"/>
              </a:lnSpc>
              <a:buNone/>
              <a:defRPr lang="en-US" sz="1600" dirty="0">
                <a:solidFill>
                  <a:srgbClr val="0D0D0D"/>
                </a:solidFill>
                <a:latin typeface="Manrope" pitchFamily="34" charset="0"/>
                <a:ea typeface="Manrope" pitchFamily="34" charset="-122"/>
                <a:cs typeface="Manrope"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Выпускная квалификационная работа · бакалавриат</a:t>
            </a:r>
            <a:endParaRPr lang="en-US" sz="1200" dirty="0"/>
          </a:p>
        </p:txBody>
      </p:sp>
      <p:sp>
        <p:nvSpPr>
          <p:cNvPr id="3" name="Text 1"/>
          <p:cNvSpPr/>
          <p:nvPr>
            <p:ph type="title"/>
          </p:nvPr>
        </p:nvSpPr>
        <p:spPr>
          <a:xfrm>
            <a:off x="812800" y="1280160"/>
            <a:ext cx="10883392" cy="2148840"/>
          </a:xfrm>
          <a:prstGeom prst="rect">
            <a:avLst/>
          </a:prstGeom>
          <a:noFill/>
          <a:ln/>
        </p:spPr>
        <p:txBody>
          <a:bodyPr wrap="square" lIns="0" tIns="0" rIns="0" bIns="0" rtlCol="0" anchor="t">
            <a:normAutofit/>
          </a:bodyPr>
          <a:lstStyle/>
          <a:p>
            <a:pPr algn="l" indent="0" marL="0">
              <a:lnSpc>
                <a:spcPts val="4180"/>
              </a:lnSpc>
              <a:buNone/>
            </a:pPr>
            <a:r>
              <a:rPr lang="en-US" sz="3800" b="1" i="0" spc="-50" kern="0" dirty="0">
                <a:solidFill>
                  <a:srgbClr val="0D0D0D"/>
                </a:solidFill>
                <a:latin typeface="Manrope" pitchFamily="34" charset="0"/>
                <a:ea typeface="Manrope" pitchFamily="34" charset="-122"/>
                <a:cs typeface="Manrope" pitchFamily="34" charset="-120"/>
              </a:rPr>
              <a:t>Разработка программного обеспечения для производства видеоконтента на открытых генеративных моделях в условиях ограниченных GPU-ресурсов</a:t>
            </a:r>
            <a:endParaRPr lang="en-US" sz="3800" dirty="0"/>
          </a:p>
        </p:txBody>
      </p:sp>
      <p:sp>
        <p:nvSpPr>
          <p:cNvPr id="4" name="Shape 2"/>
          <p:cNvSpPr/>
          <p:nvPr/>
        </p:nvSpPr>
        <p:spPr>
          <a:xfrm>
            <a:off x="812800" y="4853940"/>
            <a:ext cx="10566400" cy="0"/>
          </a:xfrm>
          <a:prstGeom prst="line">
            <a:avLst/>
          </a:prstGeom>
          <a:noFill/>
          <a:ln w="12700">
            <a:solidFill>
              <a:srgbClr val="0D0D0D"/>
            </a:solidFill>
            <a:prstDash val="solid"/>
          </a:ln>
        </p:spPr>
      </p:sp>
      <p:sp>
        <p:nvSpPr>
          <p:cNvPr id="5" name="Text 3"/>
          <p:cNvSpPr/>
          <p:nvPr/>
        </p:nvSpPr>
        <p:spPr>
          <a:xfrm>
            <a:off x="812800" y="5060950"/>
            <a:ext cx="25638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Студент</a:t>
            </a:r>
            <a:endParaRPr lang="en-US" sz="1200" dirty="0"/>
          </a:p>
        </p:txBody>
      </p:sp>
      <p:sp>
        <p:nvSpPr>
          <p:cNvPr id="6" name="Text 4"/>
          <p:cNvSpPr/>
          <p:nvPr/>
        </p:nvSpPr>
        <p:spPr>
          <a:xfrm>
            <a:off x="812800" y="5325110"/>
            <a:ext cx="2563876"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D0D0D"/>
                </a:solidFill>
                <a:latin typeface="Manrope" pitchFamily="34" charset="0"/>
                <a:ea typeface="Manrope" pitchFamily="34" charset="-122"/>
                <a:cs typeface="Manrope" pitchFamily="34" charset="-120"/>
              </a:rPr>
              <a:t>Гоцуляк Тимофей Сергеевич</a:t>
            </a:r>
            <a:endParaRPr lang="en-US" sz="1400" dirty="0"/>
          </a:p>
          <a:p>
            <a:pPr algn="l" indent="0" marL="0">
              <a:lnSpc>
                <a:spcPts val="1890"/>
              </a:lnSpc>
              <a:buNone/>
            </a:pPr>
            <a:r>
              <a:rPr lang="en-US" sz="1400" dirty="0">
                <a:solidFill>
                  <a:srgbClr val="0D0D0D"/>
                </a:solidFill>
                <a:latin typeface="Manrope" pitchFamily="34" charset="0"/>
                <a:ea typeface="Manrope" pitchFamily="34" charset="-122"/>
                <a:cs typeface="Manrope" pitchFamily="34" charset="-120"/>
              </a:rPr>
              <a:t>М8О-404Б-23</a:t>
            </a:r>
            <a:endParaRPr lang="en-US" sz="1400" dirty="0"/>
          </a:p>
        </p:txBody>
      </p:sp>
      <p:sp>
        <p:nvSpPr>
          <p:cNvPr id="7" name="Text 5"/>
          <p:cNvSpPr/>
          <p:nvPr/>
        </p:nvSpPr>
        <p:spPr>
          <a:xfrm>
            <a:off x="3505200" y="5060950"/>
            <a:ext cx="25638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Научный руководитель</a:t>
            </a:r>
            <a:endParaRPr lang="en-US" sz="1200" dirty="0"/>
          </a:p>
        </p:txBody>
      </p:sp>
      <p:sp>
        <p:nvSpPr>
          <p:cNvPr id="8" name="Text 6"/>
          <p:cNvSpPr/>
          <p:nvPr/>
        </p:nvSpPr>
        <p:spPr>
          <a:xfrm>
            <a:off x="3505200" y="5325110"/>
            <a:ext cx="2563876"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D0D0D"/>
                </a:solidFill>
                <a:latin typeface="Manrope" pitchFamily="34" charset="0"/>
                <a:ea typeface="Manrope" pitchFamily="34" charset="-122"/>
                <a:cs typeface="Manrope" pitchFamily="34" charset="-120"/>
              </a:rPr>
              <a:t>Февральских Андрей Владимирович</a:t>
            </a:r>
            <a:endParaRPr lang="en-US" sz="1400" dirty="0"/>
          </a:p>
          <a:p>
            <a:pPr algn="l" indent="0" marL="0">
              <a:lnSpc>
                <a:spcPts val="1890"/>
              </a:lnSpc>
              <a:buNone/>
            </a:pPr>
            <a:r>
              <a:rPr lang="en-US" sz="1400" dirty="0">
                <a:solidFill>
                  <a:srgbClr val="0D0D0D"/>
                </a:solidFill>
                <a:latin typeface="Manrope" pitchFamily="34" charset="0"/>
                <a:ea typeface="Manrope" pitchFamily="34" charset="-122"/>
                <a:cs typeface="Manrope" pitchFamily="34" charset="-120"/>
              </a:rPr>
              <a:t>профессор, д.т.н.</a:t>
            </a:r>
            <a:endParaRPr lang="en-US" sz="1400" dirty="0"/>
          </a:p>
        </p:txBody>
      </p:sp>
      <p:sp>
        <p:nvSpPr>
          <p:cNvPr id="9" name="Text 7"/>
          <p:cNvSpPr/>
          <p:nvPr/>
        </p:nvSpPr>
        <p:spPr>
          <a:xfrm>
            <a:off x="6197600" y="5060950"/>
            <a:ext cx="25638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Кафедра</a:t>
            </a:r>
            <a:endParaRPr lang="en-US" sz="1200" dirty="0"/>
          </a:p>
        </p:txBody>
      </p:sp>
      <p:sp>
        <p:nvSpPr>
          <p:cNvPr id="10" name="Text 8"/>
          <p:cNvSpPr/>
          <p:nvPr/>
        </p:nvSpPr>
        <p:spPr>
          <a:xfrm>
            <a:off x="6197600" y="5325110"/>
            <a:ext cx="2563876"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D0D0D"/>
                </a:solidFill>
                <a:latin typeface="Manrope" pitchFamily="34" charset="0"/>
                <a:ea typeface="Manrope" pitchFamily="34" charset="-122"/>
                <a:cs typeface="Manrope" pitchFamily="34" charset="-120"/>
              </a:rPr>
              <a:t>Образовательный центр института №8, МАИ</a:t>
            </a:r>
            <a:endParaRPr lang="en-US" sz="1400" dirty="0"/>
          </a:p>
        </p:txBody>
      </p:sp>
      <p:sp>
        <p:nvSpPr>
          <p:cNvPr id="11" name="Text 9"/>
          <p:cNvSpPr/>
          <p:nvPr/>
        </p:nvSpPr>
        <p:spPr>
          <a:xfrm>
            <a:off x="8890000" y="5060950"/>
            <a:ext cx="25638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Год</a:t>
            </a:r>
            <a:endParaRPr lang="en-US" sz="1200" dirty="0"/>
          </a:p>
        </p:txBody>
      </p:sp>
      <p:sp>
        <p:nvSpPr>
          <p:cNvPr id="12" name="Text 10"/>
          <p:cNvSpPr/>
          <p:nvPr/>
        </p:nvSpPr>
        <p:spPr>
          <a:xfrm>
            <a:off x="8890000" y="5325110"/>
            <a:ext cx="2563876"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D0D0D"/>
                </a:solidFill>
                <a:latin typeface="Manrope" pitchFamily="34" charset="0"/>
                <a:ea typeface="Manrope" pitchFamily="34" charset="-122"/>
                <a:cs typeface="Manrope" pitchFamily="34" charset="-120"/>
              </a:rPr>
              <a:t>2026</a:t>
            </a:r>
            <a:endParaRPr lang="en-US" sz="1400" dirty="0"/>
          </a:p>
        </p:txBody>
      </p:sp>
      <p:sp>
        <p:nvSpPr>
          <p:cNvPr id="13" name="Text 11"/>
          <p:cNvSpPr/>
          <p:nvPr/>
        </p:nvSpPr>
        <p:spPr>
          <a:xfrm>
            <a:off x="9417050" y="406400"/>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E80"/>
                </a:solidFill>
                <a:latin typeface="JetBrains Mono" pitchFamily="49" charset="0"/>
                <a:ea typeface="JetBrains Mono" pitchFamily="49" charset="-122"/>
                <a:cs typeface="JetBrains Mono" pitchFamily="49" charset="-120"/>
              </a:rPr>
              <a:t>00:00:01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i="0" spc="-50" kern="0" dirty="0">
                <a:solidFill>
                  <a:srgbClr val="0D0D0D"/>
                </a:solidFill>
                <a:latin typeface="Manrope" pitchFamily="34" charset="0"/>
                <a:ea typeface="Manrope" pitchFamily="34" charset="-122"/>
                <a:cs typeface="Manrope" pitchFamily="34" charset="-120"/>
              </a:rPr>
              <a:t>Проблема и цель</a:t>
            </a:r>
            <a:endParaRPr lang="en-US" sz="3600" dirty="0"/>
          </a:p>
        </p:txBody>
      </p:sp>
      <p:sp>
        <p:nvSpPr>
          <p:cNvPr id="3" name="Shape 1"/>
          <p:cNvSpPr/>
          <p:nvPr/>
        </p:nvSpPr>
        <p:spPr>
          <a:xfrm>
            <a:off x="812800" y="1614488"/>
            <a:ext cx="10566400" cy="0"/>
          </a:xfrm>
          <a:prstGeom prst="line">
            <a:avLst/>
          </a:prstGeom>
          <a:noFill/>
          <a:ln w="6350">
            <a:solidFill>
              <a:srgbClr val="E5E5E5"/>
            </a:solidFill>
            <a:prstDash val="solid"/>
          </a:ln>
        </p:spPr>
      </p:sp>
      <p:sp>
        <p:nvSpPr>
          <p:cNvPr id="4" name="Text 2"/>
          <p:cNvSpPr/>
          <p:nvPr/>
        </p:nvSpPr>
        <p:spPr>
          <a:xfrm>
            <a:off x="812800" y="1804353"/>
            <a:ext cx="20929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Дефицит GPU</a:t>
            </a:r>
            <a:endParaRPr lang="en-US" sz="1200" dirty="0"/>
          </a:p>
        </p:txBody>
      </p:sp>
      <p:sp>
        <p:nvSpPr>
          <p:cNvPr id="5" name="Text 3"/>
          <p:cNvSpPr/>
          <p:nvPr/>
        </p:nvSpPr>
        <p:spPr>
          <a:xfrm>
            <a:off x="3098800" y="1768793"/>
            <a:ext cx="852881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D0D0D"/>
                </a:solidFill>
                <a:latin typeface="Manrope" pitchFamily="34" charset="0"/>
                <a:ea typeface="Manrope" pitchFamily="34" charset="-122"/>
                <a:cs typeface="Manrope" pitchFamily="34" charset="-120"/>
              </a:rPr>
              <a:t>RTX 5090 стоит вдвое больше, чем на старте продаж. В России NVIDIA не продаёт карты с 2022 года, и цена начинается от 500 тыс. ₽</a:t>
            </a:r>
            <a:endParaRPr lang="en-US" sz="1500" dirty="0"/>
          </a:p>
        </p:txBody>
      </p:sp>
      <p:sp>
        <p:nvSpPr>
          <p:cNvPr id="6" name="Shape 4"/>
          <p:cNvSpPr/>
          <p:nvPr/>
        </p:nvSpPr>
        <p:spPr>
          <a:xfrm>
            <a:off x="812800" y="2438718"/>
            <a:ext cx="10566400" cy="0"/>
          </a:xfrm>
          <a:prstGeom prst="line">
            <a:avLst/>
          </a:prstGeom>
          <a:noFill/>
          <a:ln w="6350">
            <a:solidFill>
              <a:srgbClr val="E5E5E5"/>
            </a:solidFill>
            <a:prstDash val="solid"/>
          </a:ln>
        </p:spPr>
      </p:sp>
      <p:sp>
        <p:nvSpPr>
          <p:cNvPr id="7" name="Text 5"/>
          <p:cNvSpPr/>
          <p:nvPr/>
        </p:nvSpPr>
        <p:spPr>
          <a:xfrm>
            <a:off x="812800" y="2628583"/>
            <a:ext cx="20929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Замысел теряется</a:t>
            </a:r>
            <a:endParaRPr lang="en-US" sz="1200" dirty="0"/>
          </a:p>
        </p:txBody>
      </p:sp>
      <p:sp>
        <p:nvSpPr>
          <p:cNvPr id="8" name="Text 6"/>
          <p:cNvSpPr/>
          <p:nvPr/>
        </p:nvSpPr>
        <p:spPr>
          <a:xfrm>
            <a:off x="3098800" y="2593022"/>
            <a:ext cx="852881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D0D0D"/>
                </a:solidFill>
                <a:latin typeface="Manrope" pitchFamily="34" charset="0"/>
                <a:ea typeface="Manrope" pitchFamily="34" charset="-122"/>
                <a:cs typeface="Manrope" pitchFamily="34" charset="-120"/>
              </a:rPr>
              <a:t>Человек знает, чего хочет, но не умеет сказать это модели: короткий запрос теряет большую часть замысла, а десяток параметров генерации он не знает вовсе</a:t>
            </a:r>
            <a:endParaRPr lang="en-US" sz="1500" dirty="0"/>
          </a:p>
        </p:txBody>
      </p:sp>
      <p:sp>
        <p:nvSpPr>
          <p:cNvPr id="9" name="Shape 7"/>
          <p:cNvSpPr/>
          <p:nvPr/>
        </p:nvSpPr>
        <p:spPr>
          <a:xfrm>
            <a:off x="812800" y="3262947"/>
            <a:ext cx="10566400" cy="0"/>
          </a:xfrm>
          <a:prstGeom prst="line">
            <a:avLst/>
          </a:prstGeom>
          <a:noFill/>
          <a:ln w="6350">
            <a:solidFill>
              <a:srgbClr val="E5E5E5"/>
            </a:solidFill>
            <a:prstDash val="solid"/>
          </a:ln>
        </p:spPr>
      </p:sp>
      <p:sp>
        <p:nvSpPr>
          <p:cNvPr id="10" name="Shape 8"/>
          <p:cNvSpPr/>
          <p:nvPr/>
        </p:nvSpPr>
        <p:spPr>
          <a:xfrm>
            <a:off x="812800" y="4085907"/>
            <a:ext cx="10566400" cy="0"/>
          </a:xfrm>
          <a:prstGeom prst="line">
            <a:avLst/>
          </a:prstGeom>
          <a:noFill/>
          <a:ln w="6350">
            <a:solidFill>
              <a:srgbClr val="E5E5E5"/>
            </a:solidFill>
            <a:prstDash val="solid"/>
          </a:ln>
        </p:spPr>
      </p:sp>
      <p:sp>
        <p:nvSpPr>
          <p:cNvPr id="11" name="Text 9"/>
          <p:cNvSpPr/>
          <p:nvPr/>
        </p:nvSpPr>
        <p:spPr>
          <a:xfrm>
            <a:off x="812800" y="3452813"/>
            <a:ext cx="20929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Цена лишней итерации</a:t>
            </a:r>
            <a:endParaRPr lang="en-US" sz="1200" dirty="0"/>
          </a:p>
        </p:txBody>
      </p:sp>
      <p:sp>
        <p:nvSpPr>
          <p:cNvPr id="12" name="Text 10"/>
          <p:cNvSpPr/>
          <p:nvPr/>
        </p:nvSpPr>
        <p:spPr>
          <a:xfrm>
            <a:off x="3098800" y="3417253"/>
            <a:ext cx="852881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D0D0D"/>
                </a:solidFill>
                <a:latin typeface="Manrope" pitchFamily="34" charset="0"/>
                <a:ea typeface="Manrope" pitchFamily="34" charset="-122"/>
                <a:cs typeface="Manrope" pitchFamily="34" charset="-120"/>
              </a:rPr>
              <a:t>Каждое «не то» — новая генерация, а правки ломают уже принятое. На ограниченных GPU это минуты дорогой карты, отнятые у других запросов</a:t>
            </a:r>
            <a:endParaRPr lang="en-US" sz="1500" dirty="0"/>
          </a:p>
        </p:txBody>
      </p:sp>
      <p:sp>
        <p:nvSpPr>
          <p:cNvPr id="13" name="Text 11"/>
          <p:cNvSpPr/>
          <p:nvPr/>
        </p:nvSpPr>
        <p:spPr>
          <a:xfrm>
            <a:off x="812800" y="4444683"/>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Цель</a:t>
            </a:r>
            <a:endParaRPr lang="en-US" sz="1200" dirty="0"/>
          </a:p>
        </p:txBody>
      </p:sp>
      <p:sp>
        <p:nvSpPr>
          <p:cNvPr id="14" name="Text 12"/>
          <p:cNvSpPr/>
          <p:nvPr/>
        </p:nvSpPr>
        <p:spPr>
          <a:xfrm>
            <a:off x="812800" y="4734243"/>
            <a:ext cx="10883392" cy="951230"/>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0D0D0D"/>
                </a:solidFill>
                <a:latin typeface="Manrope" pitchFamily="34" charset="0"/>
                <a:ea typeface="Manrope" pitchFamily="34" charset="-122"/>
                <a:cs typeface="Manrope" pitchFamily="34" charset="-120"/>
              </a:rPr>
              <a:t>Разработать программное обеспечение для генерации видео на открытых моделях, которое понимает замысел пользователя по краткому запросу и превращает его в ролик за меньшее число более дешёвых попыток</a:t>
            </a:r>
            <a:endParaRPr lang="en-US" sz="1800" dirty="0"/>
          </a:p>
        </p:txBody>
      </p:sp>
      <p:sp>
        <p:nvSpPr>
          <p:cNvPr id="15" name="Text 13"/>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Гоцуляк Т. С. · ВКР · МАИ, 2026</a:t>
            </a:r>
            <a:endParaRPr lang="en-US" sz="1200" dirty="0"/>
          </a:p>
        </p:txBody>
      </p:sp>
      <p:sp>
        <p:nvSpPr>
          <p:cNvPr id="16" name="Text 14"/>
          <p:cNvSpPr/>
          <p:nvPr/>
        </p:nvSpPr>
        <p:spPr>
          <a:xfrm>
            <a:off x="9417050" y="6238241"/>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E80"/>
                </a:solidFill>
                <a:latin typeface="JetBrains Mono" pitchFamily="49" charset="0"/>
                <a:ea typeface="JetBrains Mono" pitchFamily="49" charset="-122"/>
                <a:cs typeface="JetBrains Mono" pitchFamily="49" charset="-120"/>
              </a:rPr>
              <a:t>00:00:02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7444"/>
          </a:xfrm>
          <a:prstGeom prst="rect">
            <a:avLst/>
          </a:prstGeom>
          <a:noFill/>
          <a:ln/>
        </p:spPr>
        <p:txBody>
          <a:bodyPr wrap="square" lIns="0" tIns="0" rIns="0" bIns="0" rtlCol="0" anchor="t">
            <a:normAutofit/>
          </a:bodyPr>
          <a:lstStyle/>
          <a:p>
            <a:pPr algn="l" indent="0" marL="0">
              <a:lnSpc>
                <a:spcPts val="3815"/>
              </a:lnSpc>
              <a:buNone/>
            </a:pPr>
            <a:r>
              <a:rPr lang="en-US" sz="3532" b="1" i="0" spc="-50" kern="0" dirty="0">
                <a:solidFill>
                  <a:srgbClr val="0D0D0D"/>
                </a:solidFill>
                <a:latin typeface="Manrope" pitchFamily="34" charset="0"/>
                <a:ea typeface="Manrope" pitchFamily="34" charset="-122"/>
                <a:cs typeface="Manrope" pitchFamily="34" charset="-120"/>
              </a:rPr>
              <a:t>Стоимость попытки на доступных GPU</a:t>
            </a:r>
            <a:endParaRPr lang="en-US" sz="3532"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457405"/>
          <a:ext cx="10556240" cy="3135630"/>
        </p:xfrm>
        <a:graphic>
          <a:graphicData uri="http://schemas.openxmlformats.org/drawingml/2006/table">
            <a:tbl>
              <a:tblPr/>
              <a:tblGrid>
                <a:gridCol w="2955747"/>
                <a:gridCol w="2533498"/>
                <a:gridCol w="2533498"/>
                <a:gridCol w="2533498"/>
              </a:tblGrid>
              <a:tr h="348377">
                <a:tc>
                  <a:txBody>
                    <a:bodyPr/>
                    <a:lstStyle/>
                    <a:p>
                      <a:pPr indent="0" marL="0">
                        <a:lnSpc>
                          <a:spcPts val="1774"/>
                        </a:lnSpc>
                        <a:buNone/>
                      </a:pPr>
                      <a:endParaRPr lang="en-US" sz="1268" dirty="0">
                        <a:latin typeface="Manrope" charset="0"/>
                        <a:ea typeface="Manrope" charset="0"/>
                        <a:cs typeface="Manrope" charset="0"/>
                      </a:endParaRPr>
                    </a:p>
                  </a:txBody>
                  <a:tcPr marL="56340" marR="56340" marT="56340" marB="56340" anchor="t">
                    <a:lnL w="12700" cap="flat" cmpd="sng" algn="ctr">
                      <a:solidFill>
                        <a:srgbClr val="CBCBCB"/>
                      </a:solidFill>
                      <a:prstDash val="solid"/>
                      <a:round/>
                      <a:headEnd type="none" w="med" len="med"/>
                      <a:tailEnd type="none" w="med" len="med"/>
                    </a:lnL>
                    <a:lnR w="12700" cap="flat" cmpd="sng" algn="ctr">
                      <a:solidFill>
                        <a:srgbClr val="0F0F0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F0F0E"/>
                      </a:solidFill>
                      <a:prstDash val="solid"/>
                      <a:round/>
                      <a:headEnd type="none" w="med" len="med"/>
                      <a:tailEnd type="none" w="med" len="med"/>
                    </a:lnB>
                    <a:solidFill>
                      <a:srgbClr val="0D0D0D"/>
                    </a:solidFill>
                  </a:tcPr>
                </a:tc>
                <a:tc>
                  <a:txBody>
                    <a:bodyPr/>
                    <a:lstStyle/>
                    <a:p>
                      <a:pPr indent="0" marL="0">
                        <a:lnSpc>
                          <a:spcPts val="1774"/>
                        </a:lnSpc>
                        <a:buNone/>
                      </a:pPr>
                      <a:r>
                        <a:rPr lang="en-US" sz="1268" b="1" dirty="0">
                          <a:solidFill>
                            <a:srgbClr val="FFFFFF"/>
                          </a:solidFill>
                          <a:latin typeface="Manrope" pitchFamily="34" charset="0"/>
                          <a:ea typeface="Manrope" pitchFamily="34" charset="-122"/>
                          <a:cs typeface="Manrope" pitchFamily="34" charset="-120"/>
                        </a:rPr>
                        <a:t>RTX 5090</a:t>
                      </a:r>
                      <a:endParaRPr lang="en-US" sz="1268" dirty="0">
                        <a:latin typeface="Manrope" charset="0"/>
                        <a:ea typeface="Manrope" charset="0"/>
                        <a:cs typeface="Manrope" charset="0"/>
                      </a:endParaRPr>
                    </a:p>
                  </a:txBody>
                  <a:tcPr marL="56340" marR="56340" marT="56340" marB="56340" anchor="t">
                    <a:lnL w="12700" cap="flat" cmpd="sng" algn="ctr">
                      <a:solidFill>
                        <a:srgbClr val="0F0F0E"/>
                      </a:solidFill>
                      <a:prstDash val="solid"/>
                      <a:round/>
                      <a:headEnd type="none" w="med" len="med"/>
                      <a:tailEnd type="none" w="med" len="med"/>
                    </a:lnL>
                    <a:lnR w="12700" cap="flat" cmpd="sng" algn="ctr">
                      <a:solidFill>
                        <a:srgbClr val="0F0F0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F0F0E"/>
                      </a:solidFill>
                      <a:prstDash val="solid"/>
                      <a:round/>
                      <a:headEnd type="none" w="med" len="med"/>
                      <a:tailEnd type="none" w="med" len="med"/>
                    </a:lnB>
                    <a:solidFill>
                      <a:srgbClr val="0D0D0D"/>
                    </a:solidFill>
                  </a:tcPr>
                </a:tc>
                <a:tc>
                  <a:txBody>
                    <a:bodyPr/>
                    <a:lstStyle/>
                    <a:p>
                      <a:pPr indent="0" marL="0">
                        <a:lnSpc>
                          <a:spcPts val="1774"/>
                        </a:lnSpc>
                        <a:buNone/>
                      </a:pPr>
                      <a:r>
                        <a:rPr lang="en-US" sz="1268" b="1" dirty="0">
                          <a:solidFill>
                            <a:srgbClr val="FFFFFF"/>
                          </a:solidFill>
                          <a:latin typeface="Manrope" pitchFamily="34" charset="0"/>
                          <a:ea typeface="Manrope" pitchFamily="34" charset="-122"/>
                          <a:cs typeface="Manrope" pitchFamily="34" charset="-120"/>
                        </a:rPr>
                        <a:t>RTX PRO 6000</a:t>
                      </a:r>
                      <a:endParaRPr lang="en-US" sz="1268" dirty="0">
                        <a:latin typeface="Manrope" charset="0"/>
                        <a:ea typeface="Manrope" charset="0"/>
                        <a:cs typeface="Manrope" charset="0"/>
                      </a:endParaRPr>
                    </a:p>
                  </a:txBody>
                  <a:tcPr marL="56340" marR="56340" marT="56340" marB="56340" anchor="t">
                    <a:lnL w="12700" cap="flat" cmpd="sng" algn="ctr">
                      <a:solidFill>
                        <a:srgbClr val="0F0F0E"/>
                      </a:solidFill>
                      <a:prstDash val="solid"/>
                      <a:round/>
                      <a:headEnd type="none" w="med" len="med"/>
                      <a:tailEnd type="none" w="med" len="med"/>
                    </a:lnL>
                    <a:lnR w="12700" cap="flat" cmpd="sng" algn="ctr">
                      <a:solidFill>
                        <a:srgbClr val="0F0F0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F0F0E"/>
                      </a:solidFill>
                      <a:prstDash val="solid"/>
                      <a:round/>
                      <a:headEnd type="none" w="med" len="med"/>
                      <a:tailEnd type="none" w="med" len="med"/>
                    </a:lnB>
                    <a:solidFill>
                      <a:srgbClr val="0D0D0D"/>
                    </a:solidFill>
                  </a:tcPr>
                </a:tc>
                <a:tc>
                  <a:txBody>
                    <a:bodyPr/>
                    <a:lstStyle/>
                    <a:p>
                      <a:pPr indent="0" marL="0">
                        <a:lnSpc>
                          <a:spcPts val="1774"/>
                        </a:lnSpc>
                        <a:buNone/>
                      </a:pPr>
                      <a:r>
                        <a:rPr lang="en-US" sz="1268" b="1" dirty="0">
                          <a:solidFill>
                            <a:srgbClr val="FFFFFF"/>
                          </a:solidFill>
                          <a:latin typeface="Manrope" pitchFamily="34" charset="0"/>
                          <a:ea typeface="Manrope" pitchFamily="34" charset="-122"/>
                          <a:cs typeface="Manrope" pitchFamily="34" charset="-120"/>
                        </a:rPr>
                        <a:t>B200</a:t>
                      </a:r>
                      <a:endParaRPr lang="en-US" sz="1268" dirty="0">
                        <a:latin typeface="Manrope" charset="0"/>
                        <a:ea typeface="Manrope" charset="0"/>
                        <a:cs typeface="Manrope" charset="0"/>
                      </a:endParaRPr>
                    </a:p>
                  </a:txBody>
                  <a:tcPr marL="56340" marR="56340" marT="56340" marB="56340" anchor="t">
                    <a:lnL w="12700" cap="flat" cmpd="sng" algn="ctr">
                      <a:solidFill>
                        <a:srgbClr val="0F0F0E"/>
                      </a:solidFill>
                      <a:prstDash val="solid"/>
                      <a:round/>
                      <a:headEnd type="none" w="med" len="med"/>
                      <a:tailEnd type="none" w="med" len="med"/>
                    </a:lnL>
                    <a:lnR w="12700" cap="flat" cmpd="sng" algn="ctr">
                      <a:solidFill>
                        <a:srgbClr val="0F0F0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F0F0E"/>
                      </a:solidFill>
                      <a:prstDash val="solid"/>
                      <a:round/>
                      <a:headEnd type="none" w="med" len="med"/>
                      <a:tailEnd type="none" w="med" len="med"/>
                    </a:lnB>
                    <a:solidFill>
                      <a:srgbClr val="0D0D0D"/>
                    </a:solidFill>
                  </a:tcPr>
                </a:tc>
              </a:tr>
              <a:tr h="348377">
                <a:tc>
                  <a:txBody>
                    <a:bodyPr/>
                    <a:lstStyle/>
                    <a:p>
                      <a:pPr indent="0" marL="0">
                        <a:lnSpc>
                          <a:spcPts val="1774"/>
                        </a:lnSpc>
                        <a:buNone/>
                      </a:pPr>
                      <a:r>
                        <a:rPr lang="en-US" sz="1268" dirty="0">
                          <a:solidFill>
                            <a:srgbClr val="6E6E80"/>
                          </a:solidFill>
                          <a:latin typeface="Manrope" pitchFamily="34" charset="0"/>
                          <a:ea typeface="Manrope" pitchFamily="34" charset="-122"/>
                          <a:cs typeface="Manrope" pitchFamily="34" charset="-120"/>
                        </a:rPr>
                        <a:t>Класс</a:t>
                      </a:r>
                      <a:endParaRPr lang="en-US" sz="1268" dirty="0">
                        <a:latin typeface="Manrope" charset="0"/>
                        <a:ea typeface="Manrope" charset="0"/>
                        <a:cs typeface="Manrope" charset="0"/>
                      </a:endParaRPr>
                    </a:p>
                  </a:txBody>
                  <a:tcPr marL="56340" marR="56340" marT="56340" marB="56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F0F0E"/>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потребительская</a:t>
                      </a:r>
                      <a:endParaRPr lang="en-US" sz="1268" dirty="0">
                        <a:latin typeface="Manrope" charset="0"/>
                        <a:ea typeface="Manrope" charset="0"/>
                        <a:cs typeface="Manrope" charset="0"/>
                      </a:endParaRPr>
                    </a:p>
                  </a:txBody>
                  <a:tcPr marL="56340" marR="56340" marT="56340" marB="56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F0F0E"/>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профессиональная</a:t>
                      </a:r>
                      <a:endParaRPr lang="en-US" sz="1268" dirty="0">
                        <a:latin typeface="Manrope" charset="0"/>
                        <a:ea typeface="Manrope" charset="0"/>
                        <a:cs typeface="Manrope" charset="0"/>
                      </a:endParaRPr>
                    </a:p>
                  </a:txBody>
                  <a:tcPr marL="56340" marR="56340" marT="56340" marB="56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F0F0E"/>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серверная</a:t>
                      </a:r>
                      <a:endParaRPr lang="en-US" sz="1268" dirty="0">
                        <a:latin typeface="Manrope" charset="0"/>
                        <a:ea typeface="Manrope" charset="0"/>
                        <a:cs typeface="Manrope" charset="0"/>
                      </a:endParaRPr>
                    </a:p>
                  </a:txBody>
                  <a:tcPr marL="56340" marR="56340" marT="56340" marB="56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F0F0E"/>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48377">
                <a:tc>
                  <a:txBody>
                    <a:bodyPr/>
                    <a:lstStyle/>
                    <a:p>
                      <a:pPr indent="0" marL="0">
                        <a:lnSpc>
                          <a:spcPts val="1774"/>
                        </a:lnSpc>
                        <a:buNone/>
                      </a:pPr>
                      <a:r>
                        <a:rPr lang="en-US" sz="1268" dirty="0">
                          <a:solidFill>
                            <a:srgbClr val="6E6E80"/>
                          </a:solidFill>
                          <a:latin typeface="Manrope" pitchFamily="34" charset="0"/>
                          <a:ea typeface="Manrope" pitchFamily="34" charset="-122"/>
                          <a:cs typeface="Manrope" pitchFamily="34" charset="-120"/>
                        </a:rPr>
                        <a:t>Видеопамять</a:t>
                      </a:r>
                      <a:endParaRPr lang="en-US" sz="1268" dirty="0">
                        <a:latin typeface="Manrope" charset="0"/>
                        <a:ea typeface="Manrope" charset="0"/>
                        <a:cs typeface="Manrope" charset="0"/>
                      </a:endParaRPr>
                    </a:p>
                  </a:txBody>
                  <a:tcPr marL="56340" marR="56340" marT="56340" marB="56340" anchor="t">
                    <a:lnL w="12700" cap="flat" cmpd="sng" algn="ctr">
                      <a:solidFill>
                        <a:srgbClr val="CBCBCB"/>
                      </a:solidFill>
                      <a:prstDash val="solid"/>
                      <a:round/>
                      <a:headEnd type="none" w="med" len="med"/>
                      <a:tailEnd type="none" w="med" len="med"/>
                    </a:lnL>
                    <a:lnR w="12700" cap="flat" cmpd="sng" algn="ctr">
                      <a:solidFill>
                        <a:srgbClr val="C3C3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3"/>
                      </a:solidFill>
                      <a:prstDash val="solid"/>
                      <a:round/>
                      <a:headEnd type="none" w="med" len="med"/>
                      <a:tailEnd type="none" w="med" len="med"/>
                    </a:lnB>
                    <a:solidFill>
                      <a:srgbClr val="F4F4F4"/>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32 ГБ</a:t>
                      </a:r>
                      <a:endParaRPr lang="en-US" sz="1268" dirty="0">
                        <a:latin typeface="Manrope" charset="0"/>
                        <a:ea typeface="Manrope" charset="0"/>
                        <a:cs typeface="Manrope" charset="0"/>
                      </a:endParaRPr>
                    </a:p>
                  </a:txBody>
                  <a:tcPr marL="56340" marR="56340" marT="56340" marB="56340" anchor="t">
                    <a:lnL w="12700" cap="flat" cmpd="sng" algn="ctr">
                      <a:solidFill>
                        <a:srgbClr val="C3C3C3"/>
                      </a:solidFill>
                      <a:prstDash val="solid"/>
                      <a:round/>
                      <a:headEnd type="none" w="med" len="med"/>
                      <a:tailEnd type="none" w="med" len="med"/>
                    </a:lnL>
                    <a:lnR w="12700" cap="flat" cmpd="sng" algn="ctr">
                      <a:solidFill>
                        <a:srgbClr val="C3C3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3"/>
                      </a:solidFill>
                      <a:prstDash val="solid"/>
                      <a:round/>
                      <a:headEnd type="none" w="med" len="med"/>
                      <a:tailEnd type="none" w="med" len="med"/>
                    </a:lnB>
                    <a:solidFill>
                      <a:srgbClr val="F4F4F4"/>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96 ГБ</a:t>
                      </a:r>
                      <a:endParaRPr lang="en-US" sz="1268" dirty="0">
                        <a:latin typeface="Manrope" charset="0"/>
                        <a:ea typeface="Manrope" charset="0"/>
                        <a:cs typeface="Manrope" charset="0"/>
                      </a:endParaRPr>
                    </a:p>
                  </a:txBody>
                  <a:tcPr marL="56340" marR="56340" marT="56340" marB="56340" anchor="t">
                    <a:lnL w="12700" cap="flat" cmpd="sng" algn="ctr">
                      <a:solidFill>
                        <a:srgbClr val="C3C3C3"/>
                      </a:solidFill>
                      <a:prstDash val="solid"/>
                      <a:round/>
                      <a:headEnd type="none" w="med" len="med"/>
                      <a:tailEnd type="none" w="med" len="med"/>
                    </a:lnL>
                    <a:lnR w="12700" cap="flat" cmpd="sng" algn="ctr">
                      <a:solidFill>
                        <a:srgbClr val="C3C3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3"/>
                      </a:solidFill>
                      <a:prstDash val="solid"/>
                      <a:round/>
                      <a:headEnd type="none" w="med" len="med"/>
                      <a:tailEnd type="none" w="med" len="med"/>
                    </a:lnB>
                    <a:solidFill>
                      <a:srgbClr val="F4F4F4"/>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180 ГБ</a:t>
                      </a:r>
                      <a:endParaRPr lang="en-US" sz="1268" dirty="0">
                        <a:latin typeface="Manrope" charset="0"/>
                        <a:ea typeface="Manrope" charset="0"/>
                        <a:cs typeface="Manrope" charset="0"/>
                      </a:endParaRPr>
                    </a:p>
                  </a:txBody>
                  <a:tcPr marL="56340" marR="56340" marT="56340" marB="56340" anchor="t">
                    <a:lnL w="12700" cap="flat" cmpd="sng" algn="ctr">
                      <a:solidFill>
                        <a:srgbClr val="C3C3C3"/>
                      </a:solidFill>
                      <a:prstDash val="solid"/>
                      <a:round/>
                      <a:headEnd type="none" w="med" len="med"/>
                      <a:tailEnd type="none" w="med" len="med"/>
                    </a:lnL>
                    <a:lnR w="12700" cap="flat" cmpd="sng" algn="ctr">
                      <a:solidFill>
                        <a:srgbClr val="C3C3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3"/>
                      </a:solidFill>
                      <a:prstDash val="solid"/>
                      <a:round/>
                      <a:headEnd type="none" w="med" len="med"/>
                      <a:tailEnd type="none" w="med" len="med"/>
                    </a:lnB>
                    <a:solidFill>
                      <a:srgbClr val="F4F4F4"/>
                    </a:solidFill>
                  </a:tcPr>
                </a:tc>
              </a:tr>
              <a:tr h="348377">
                <a:tc>
                  <a:txBody>
                    <a:bodyPr/>
                    <a:lstStyle/>
                    <a:p>
                      <a:pPr indent="0" marL="0">
                        <a:lnSpc>
                          <a:spcPts val="1774"/>
                        </a:lnSpc>
                        <a:buNone/>
                      </a:pPr>
                      <a:r>
                        <a:rPr lang="en-US" sz="1268" dirty="0">
                          <a:solidFill>
                            <a:srgbClr val="6E6E80"/>
                          </a:solidFill>
                          <a:latin typeface="Manrope" pitchFamily="34" charset="0"/>
                          <a:ea typeface="Manrope" pitchFamily="34" charset="-122"/>
                          <a:cs typeface="Manrope" pitchFamily="34" charset="-120"/>
                        </a:rPr>
                        <a:t>Скорость памяти</a:t>
                      </a:r>
                      <a:endParaRPr lang="en-US" sz="1268" dirty="0">
                        <a:latin typeface="Manrope" charset="0"/>
                        <a:ea typeface="Manrope" charset="0"/>
                        <a:cs typeface="Manrope" charset="0"/>
                      </a:endParaRPr>
                    </a:p>
                  </a:txBody>
                  <a:tcPr marL="56340" marR="56340" marT="56340" marB="56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1,8 ТБ/с</a:t>
                      </a:r>
                      <a:endParaRPr lang="en-US" sz="1268" dirty="0">
                        <a:latin typeface="Manrope" charset="0"/>
                        <a:ea typeface="Manrope" charset="0"/>
                        <a:cs typeface="Manrope" charset="0"/>
                      </a:endParaRPr>
                    </a:p>
                  </a:txBody>
                  <a:tcPr marL="56340" marR="56340" marT="56340" marB="56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1,8 ТБ/с</a:t>
                      </a:r>
                      <a:endParaRPr lang="en-US" sz="1268" dirty="0">
                        <a:latin typeface="Manrope" charset="0"/>
                        <a:ea typeface="Manrope" charset="0"/>
                        <a:cs typeface="Manrope" charset="0"/>
                      </a:endParaRPr>
                    </a:p>
                  </a:txBody>
                  <a:tcPr marL="56340" marR="56340" marT="56340" marB="56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8 ТБ/с</a:t>
                      </a:r>
                      <a:endParaRPr lang="en-US" sz="1268" dirty="0">
                        <a:latin typeface="Manrope" charset="0"/>
                        <a:ea typeface="Manrope" charset="0"/>
                        <a:cs typeface="Manrope" charset="0"/>
                      </a:endParaRPr>
                    </a:p>
                  </a:txBody>
                  <a:tcPr marL="56340" marR="56340" marT="56340" marB="56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48377">
                <a:tc>
                  <a:txBody>
                    <a:bodyPr/>
                    <a:lstStyle/>
                    <a:p>
                      <a:pPr indent="0" marL="0">
                        <a:lnSpc>
                          <a:spcPts val="1774"/>
                        </a:lnSpc>
                        <a:buNone/>
                      </a:pPr>
                      <a:r>
                        <a:rPr lang="en-US" sz="1268" dirty="0">
                          <a:solidFill>
                            <a:srgbClr val="6E6E80"/>
                          </a:solidFill>
                          <a:latin typeface="Manrope" pitchFamily="34" charset="0"/>
                          <a:ea typeface="Manrope" pitchFamily="34" charset="-122"/>
                          <a:cs typeface="Manrope" pitchFamily="34" charset="-120"/>
                        </a:rPr>
                        <a:t>Тензорные вычисления BF16</a:t>
                      </a:r>
                      <a:endParaRPr lang="en-US" sz="1268" dirty="0">
                        <a:latin typeface="Manrope" charset="0"/>
                        <a:ea typeface="Manrope" charset="0"/>
                        <a:cs typeface="Manrope" charset="0"/>
                      </a:endParaRPr>
                    </a:p>
                  </a:txBody>
                  <a:tcPr marL="56340" marR="56340" marT="56340" marB="56340" anchor="t">
                    <a:lnL w="12700" cap="flat" cmpd="sng" algn="ctr">
                      <a:solidFill>
                        <a:srgbClr val="CBCBCB"/>
                      </a:solidFill>
                      <a:prstDash val="solid"/>
                      <a:round/>
                      <a:headEnd type="none" w="med" len="med"/>
                      <a:tailEnd type="none" w="med" len="med"/>
                    </a:lnL>
                    <a:lnR w="12700" cap="flat" cmpd="sng" algn="ctr">
                      <a:solidFill>
                        <a:srgbClr val="C3C3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3"/>
                      </a:solidFill>
                      <a:prstDash val="solid"/>
                      <a:round/>
                      <a:headEnd type="none" w="med" len="med"/>
                      <a:tailEnd type="none" w="med" len="med"/>
                    </a:lnB>
                    <a:solidFill>
                      <a:srgbClr val="F4F4F4"/>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210 TFLOPS</a:t>
                      </a:r>
                      <a:endParaRPr lang="en-US" sz="1268" dirty="0">
                        <a:latin typeface="Manrope" charset="0"/>
                        <a:ea typeface="Manrope" charset="0"/>
                        <a:cs typeface="Manrope" charset="0"/>
                      </a:endParaRPr>
                    </a:p>
                  </a:txBody>
                  <a:tcPr marL="56340" marR="56340" marT="56340" marB="56340" anchor="t">
                    <a:lnL w="12700" cap="flat" cmpd="sng" algn="ctr">
                      <a:solidFill>
                        <a:srgbClr val="C3C3C3"/>
                      </a:solidFill>
                      <a:prstDash val="solid"/>
                      <a:round/>
                      <a:headEnd type="none" w="med" len="med"/>
                      <a:tailEnd type="none" w="med" len="med"/>
                    </a:lnL>
                    <a:lnR w="12700" cap="flat" cmpd="sng" algn="ctr">
                      <a:solidFill>
                        <a:srgbClr val="C3C3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3"/>
                      </a:solidFill>
                      <a:prstDash val="solid"/>
                      <a:round/>
                      <a:headEnd type="none" w="med" len="med"/>
                      <a:tailEnd type="none" w="med" len="med"/>
                    </a:lnB>
                    <a:solidFill>
                      <a:srgbClr val="F4F4F4"/>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~420 TFLOPS</a:t>
                      </a:r>
                      <a:endParaRPr lang="en-US" sz="1268" dirty="0">
                        <a:latin typeface="Manrope" charset="0"/>
                        <a:ea typeface="Manrope" charset="0"/>
                        <a:cs typeface="Manrope" charset="0"/>
                      </a:endParaRPr>
                    </a:p>
                  </a:txBody>
                  <a:tcPr marL="56340" marR="56340" marT="56340" marB="56340" anchor="t">
                    <a:lnL w="12700" cap="flat" cmpd="sng" algn="ctr">
                      <a:solidFill>
                        <a:srgbClr val="C3C3C3"/>
                      </a:solidFill>
                      <a:prstDash val="solid"/>
                      <a:round/>
                      <a:headEnd type="none" w="med" len="med"/>
                      <a:tailEnd type="none" w="med" len="med"/>
                    </a:lnL>
                    <a:lnR w="12700" cap="flat" cmpd="sng" algn="ctr">
                      <a:solidFill>
                        <a:srgbClr val="C3C3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3"/>
                      </a:solidFill>
                      <a:prstDash val="solid"/>
                      <a:round/>
                      <a:headEnd type="none" w="med" len="med"/>
                      <a:tailEnd type="none" w="med" len="med"/>
                    </a:lnB>
                    <a:solidFill>
                      <a:srgbClr val="F4F4F4"/>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2250 TFLOPS</a:t>
                      </a:r>
                      <a:endParaRPr lang="en-US" sz="1268" dirty="0">
                        <a:latin typeface="Manrope" charset="0"/>
                        <a:ea typeface="Manrope" charset="0"/>
                        <a:cs typeface="Manrope" charset="0"/>
                      </a:endParaRPr>
                    </a:p>
                  </a:txBody>
                  <a:tcPr marL="56340" marR="56340" marT="56340" marB="56340" anchor="t">
                    <a:lnL w="12700" cap="flat" cmpd="sng" algn="ctr">
                      <a:solidFill>
                        <a:srgbClr val="C3C3C3"/>
                      </a:solidFill>
                      <a:prstDash val="solid"/>
                      <a:round/>
                      <a:headEnd type="none" w="med" len="med"/>
                      <a:tailEnd type="none" w="med" len="med"/>
                    </a:lnL>
                    <a:lnR w="12700" cap="flat" cmpd="sng" algn="ctr">
                      <a:solidFill>
                        <a:srgbClr val="C3C3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3"/>
                      </a:solidFill>
                      <a:prstDash val="solid"/>
                      <a:round/>
                      <a:headEnd type="none" w="med" len="med"/>
                      <a:tailEnd type="none" w="med" len="med"/>
                    </a:lnB>
                    <a:solidFill>
                      <a:srgbClr val="F4F4F4"/>
                    </a:solidFill>
                  </a:tcPr>
                </a:tc>
              </a:tr>
              <a:tr h="348377">
                <a:tc>
                  <a:txBody>
                    <a:bodyPr/>
                    <a:lstStyle/>
                    <a:p>
                      <a:pPr indent="0" marL="0">
                        <a:lnSpc>
                          <a:spcPts val="1774"/>
                        </a:lnSpc>
                        <a:buNone/>
                      </a:pPr>
                      <a:r>
                        <a:rPr lang="en-US" sz="1268" dirty="0">
                          <a:solidFill>
                            <a:srgbClr val="6E6E80"/>
                          </a:solidFill>
                          <a:latin typeface="Manrope" pitchFamily="34" charset="0"/>
                          <a:ea typeface="Manrope" pitchFamily="34" charset="-122"/>
                          <a:cs typeface="Manrope" pitchFamily="34" charset="-120"/>
                        </a:rPr>
                        <a:t>Связь между картами</a:t>
                      </a:r>
                      <a:endParaRPr lang="en-US" sz="1268" dirty="0">
                        <a:latin typeface="Manrope" charset="0"/>
                        <a:ea typeface="Manrope" charset="0"/>
                        <a:cs typeface="Manrope" charset="0"/>
                      </a:endParaRPr>
                    </a:p>
                  </a:txBody>
                  <a:tcPr marL="56340" marR="56340" marT="56340" marB="56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PCIe 5.0, 64 ГБ/с</a:t>
                      </a:r>
                      <a:endParaRPr lang="en-US" sz="1268" dirty="0">
                        <a:latin typeface="Manrope" charset="0"/>
                        <a:ea typeface="Manrope" charset="0"/>
                        <a:cs typeface="Manrope" charset="0"/>
                      </a:endParaRPr>
                    </a:p>
                  </a:txBody>
                  <a:tcPr marL="56340" marR="56340" marT="56340" marB="56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PCIe 5.0, 64 ГБ/с</a:t>
                      </a:r>
                      <a:endParaRPr lang="en-US" sz="1268" dirty="0">
                        <a:latin typeface="Manrope" charset="0"/>
                        <a:ea typeface="Manrope" charset="0"/>
                        <a:cs typeface="Manrope" charset="0"/>
                      </a:endParaRPr>
                    </a:p>
                  </a:txBody>
                  <a:tcPr marL="56340" marR="56340" marT="56340" marB="56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NVLink 5, 900 ГБ/с</a:t>
                      </a:r>
                      <a:endParaRPr lang="en-US" sz="1268" dirty="0">
                        <a:latin typeface="Manrope" charset="0"/>
                        <a:ea typeface="Manrope" charset="0"/>
                        <a:cs typeface="Manrope" charset="0"/>
                      </a:endParaRPr>
                    </a:p>
                  </a:txBody>
                  <a:tcPr marL="56340" marR="56340" marT="56340" marB="56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48456">
                <a:tc>
                  <a:txBody>
                    <a:bodyPr/>
                    <a:lstStyle/>
                    <a:p>
                      <a:pPr indent="0" marL="0">
                        <a:lnSpc>
                          <a:spcPts val="1774"/>
                        </a:lnSpc>
                        <a:buNone/>
                      </a:pPr>
                      <a:r>
                        <a:rPr lang="en-US" sz="1268" dirty="0">
                          <a:solidFill>
                            <a:srgbClr val="6E6E80"/>
                          </a:solidFill>
                          <a:latin typeface="Manrope" pitchFamily="34" charset="0"/>
                          <a:ea typeface="Manrope" pitchFamily="34" charset="-122"/>
                          <a:cs typeface="Manrope" pitchFamily="34" charset="-120"/>
                        </a:rPr>
                        <a:t>Цена: старт → сейчас</a:t>
                      </a:r>
                      <a:endParaRPr lang="en-US" sz="1268" dirty="0">
                        <a:latin typeface="Manrope" charset="0"/>
                        <a:ea typeface="Manrope" charset="0"/>
                        <a:cs typeface="Manrope" charset="0"/>
                      </a:endParaRPr>
                    </a:p>
                  </a:txBody>
                  <a:tcPr marL="56340" marR="56340" marT="56340" marB="56340" anchor="t">
                    <a:lnL w="12700" cap="flat" cmpd="sng" algn="ctr">
                      <a:solidFill>
                        <a:srgbClr val="CBCBCB"/>
                      </a:solidFill>
                      <a:prstDash val="solid"/>
                      <a:round/>
                      <a:headEnd type="none" w="med" len="med"/>
                      <a:tailEnd type="none" w="med" len="med"/>
                    </a:lnL>
                    <a:lnR w="12700" cap="flat" cmpd="sng" algn="ctr">
                      <a:solidFill>
                        <a:srgbClr val="C3C3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3"/>
                      </a:solidFill>
                      <a:prstDash val="solid"/>
                      <a:round/>
                      <a:headEnd type="none" w="med" len="med"/>
                      <a:tailEnd type="none" w="med" len="med"/>
                    </a:lnB>
                    <a:solidFill>
                      <a:srgbClr val="F4F4F4"/>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$2 → $4,3–5 тыс.</a:t>
                      </a:r>
                      <a:endParaRPr lang="en-US" sz="1268" dirty="0">
                        <a:latin typeface="Manrope" charset="0"/>
                        <a:ea typeface="Manrope" charset="0"/>
                        <a:cs typeface="Manrope" charset="0"/>
                      </a:endParaRPr>
                    </a:p>
                  </a:txBody>
                  <a:tcPr marL="56340" marR="56340" marT="56340" marB="56340" anchor="t">
                    <a:lnL w="12700" cap="flat" cmpd="sng" algn="ctr">
                      <a:solidFill>
                        <a:srgbClr val="C3C3C3"/>
                      </a:solidFill>
                      <a:prstDash val="solid"/>
                      <a:round/>
                      <a:headEnd type="none" w="med" len="med"/>
                      <a:tailEnd type="none" w="med" len="med"/>
                    </a:lnL>
                    <a:lnR w="12700" cap="flat" cmpd="sng" algn="ctr">
                      <a:solidFill>
                        <a:srgbClr val="C3C3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3"/>
                      </a:solidFill>
                      <a:prstDash val="solid"/>
                      <a:round/>
                      <a:headEnd type="none" w="med" len="med"/>
                      <a:tailEnd type="none" w="med" len="med"/>
                    </a:lnB>
                    <a:solidFill>
                      <a:srgbClr val="F4F4F4"/>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$8,6 → $14–16 тыс.</a:t>
                      </a:r>
                      <a:endParaRPr lang="en-US" sz="1268" dirty="0">
                        <a:latin typeface="Manrope" charset="0"/>
                        <a:ea typeface="Manrope" charset="0"/>
                        <a:cs typeface="Manrope" charset="0"/>
                      </a:endParaRPr>
                    </a:p>
                  </a:txBody>
                  <a:tcPr marL="56340" marR="56340" marT="56340" marB="56340" anchor="t">
                    <a:lnL w="12700" cap="flat" cmpd="sng" algn="ctr">
                      <a:solidFill>
                        <a:srgbClr val="C3C3C3"/>
                      </a:solidFill>
                      <a:prstDash val="solid"/>
                      <a:round/>
                      <a:headEnd type="none" w="med" len="med"/>
                      <a:tailEnd type="none" w="med" len="med"/>
                    </a:lnL>
                    <a:lnR w="12700" cap="flat" cmpd="sng" algn="ctr">
                      <a:solidFill>
                        <a:srgbClr val="C3C3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3"/>
                      </a:solidFill>
                      <a:prstDash val="solid"/>
                      <a:round/>
                      <a:headEnd type="none" w="med" len="med"/>
                      <a:tailEnd type="none" w="med" len="med"/>
                    </a:lnB>
                    <a:solidFill>
                      <a:srgbClr val="F4F4F4"/>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~$30–40 тыс.</a:t>
                      </a:r>
                      <a:endParaRPr lang="en-US" sz="1268" dirty="0">
                        <a:latin typeface="Manrope" charset="0"/>
                        <a:ea typeface="Manrope" charset="0"/>
                        <a:cs typeface="Manrope" charset="0"/>
                      </a:endParaRPr>
                    </a:p>
                  </a:txBody>
                  <a:tcPr marL="56340" marR="56340" marT="56340" marB="56340" anchor="t">
                    <a:lnL w="12700" cap="flat" cmpd="sng" algn="ctr">
                      <a:solidFill>
                        <a:srgbClr val="C3C3C3"/>
                      </a:solidFill>
                      <a:prstDash val="solid"/>
                      <a:round/>
                      <a:headEnd type="none" w="med" len="med"/>
                      <a:tailEnd type="none" w="med" len="med"/>
                    </a:lnL>
                    <a:lnR w="12700" cap="flat" cmpd="sng" algn="ctr">
                      <a:solidFill>
                        <a:srgbClr val="C3C3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3"/>
                      </a:solidFill>
                      <a:prstDash val="solid"/>
                      <a:round/>
                      <a:headEnd type="none" w="med" len="med"/>
                      <a:tailEnd type="none" w="med" len="med"/>
                    </a:lnB>
                    <a:solidFill>
                      <a:srgbClr val="F4F4F4"/>
                    </a:solidFill>
                  </a:tcPr>
                </a:tc>
              </a:tr>
              <a:tr h="348456">
                <a:tc>
                  <a:txBody>
                    <a:bodyPr/>
                    <a:lstStyle/>
                    <a:p>
                      <a:pPr indent="0" marL="0">
                        <a:lnSpc>
                          <a:spcPts val="1774"/>
                        </a:lnSpc>
                        <a:buNone/>
                      </a:pPr>
                      <a:r>
                        <a:rPr lang="en-US" sz="1268" dirty="0">
                          <a:solidFill>
                            <a:srgbClr val="6E6E80"/>
                          </a:solidFill>
                          <a:latin typeface="Manrope" pitchFamily="34" charset="0"/>
                          <a:ea typeface="Manrope" pitchFamily="34" charset="-122"/>
                          <a:cs typeface="Manrope" pitchFamily="34" charset="-120"/>
                        </a:rPr>
                        <a:t>Аренда</a:t>
                      </a:r>
                      <a:endParaRPr lang="en-US" sz="1268" dirty="0">
                        <a:latin typeface="Manrope" charset="0"/>
                        <a:ea typeface="Manrope" charset="0"/>
                        <a:cs typeface="Manrope" charset="0"/>
                      </a:endParaRPr>
                    </a:p>
                  </a:txBody>
                  <a:tcPr marL="56340" marR="56340" marT="56340" marB="56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~$0,4–0,8 в час</a:t>
                      </a:r>
                      <a:endParaRPr lang="en-US" sz="1268" dirty="0">
                        <a:latin typeface="Manrope" charset="0"/>
                        <a:ea typeface="Manrope" charset="0"/>
                        <a:cs typeface="Manrope" charset="0"/>
                      </a:endParaRPr>
                    </a:p>
                  </a:txBody>
                  <a:tcPr marL="56340" marR="56340" marT="56340" marB="56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~$1–2 в час</a:t>
                      </a:r>
                      <a:endParaRPr lang="en-US" sz="1268" dirty="0">
                        <a:latin typeface="Manrope" charset="0"/>
                        <a:ea typeface="Manrope" charset="0"/>
                        <a:cs typeface="Manrope" charset="0"/>
                      </a:endParaRPr>
                    </a:p>
                  </a:txBody>
                  <a:tcPr marL="56340" marR="56340" marT="56340" marB="56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~$5–8 в час</a:t>
                      </a:r>
                      <a:endParaRPr lang="en-US" sz="1268" dirty="0">
                        <a:latin typeface="Manrope" charset="0"/>
                        <a:ea typeface="Manrope" charset="0"/>
                        <a:cs typeface="Manrope" charset="0"/>
                      </a:endParaRPr>
                    </a:p>
                  </a:txBody>
                  <a:tcPr marL="56340" marR="56340" marT="56340" marB="56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48456">
                <a:tc>
                  <a:txBody>
                    <a:bodyPr/>
                    <a:lstStyle/>
                    <a:p>
                      <a:pPr indent="0" marL="0">
                        <a:lnSpc>
                          <a:spcPts val="1774"/>
                        </a:lnSpc>
                        <a:buNone/>
                      </a:pPr>
                      <a:r>
                        <a:rPr lang="en-US" sz="1268" dirty="0">
                          <a:solidFill>
                            <a:srgbClr val="6E6E80"/>
                          </a:solidFill>
                          <a:latin typeface="Manrope" pitchFamily="34" charset="0"/>
                          <a:ea typeface="Manrope" pitchFamily="34" charset="-122"/>
                          <a:cs typeface="Manrope" pitchFamily="34" charset="-120"/>
                        </a:rPr>
                        <a:t>MiniMax H3 целиком в BF16</a:t>
                      </a:r>
                      <a:endParaRPr lang="en-US" sz="1268" dirty="0">
                        <a:latin typeface="Manrope" charset="0"/>
                        <a:ea typeface="Manrope" charset="0"/>
                        <a:cs typeface="Manrope" charset="0"/>
                      </a:endParaRPr>
                    </a:p>
                  </a:txBody>
                  <a:tcPr marL="56340" marR="56340" marT="56340" marB="56340" anchor="t">
                    <a:lnL w="12700" cap="flat" cmpd="sng" algn="ctr">
                      <a:solidFill>
                        <a:srgbClr val="CBCBCB"/>
                      </a:solidFill>
                      <a:prstDash val="solid"/>
                      <a:round/>
                      <a:headEnd type="none" w="med" len="med"/>
                      <a:tailEnd type="none" w="med" len="med"/>
                    </a:lnL>
                    <a:lnR w="12700" cap="flat" cmpd="sng" algn="ctr">
                      <a:solidFill>
                        <a:srgbClr val="C3C3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3"/>
                      </a:solidFill>
                      <a:prstDash val="solid"/>
                      <a:round/>
                      <a:headEnd type="none" w="med" len="med"/>
                      <a:tailEnd type="none" w="med" len="med"/>
                    </a:lnB>
                    <a:solidFill>
                      <a:srgbClr val="F4F4F4"/>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нет</a:t>
                      </a:r>
                      <a:endParaRPr lang="en-US" sz="1268" dirty="0">
                        <a:latin typeface="Manrope" charset="0"/>
                        <a:ea typeface="Manrope" charset="0"/>
                        <a:cs typeface="Manrope" charset="0"/>
                      </a:endParaRPr>
                    </a:p>
                  </a:txBody>
                  <a:tcPr marL="56340" marR="56340" marT="56340" marB="56340" anchor="t">
                    <a:lnL w="12700" cap="flat" cmpd="sng" algn="ctr">
                      <a:solidFill>
                        <a:srgbClr val="C3C3C3"/>
                      </a:solidFill>
                      <a:prstDash val="solid"/>
                      <a:round/>
                      <a:headEnd type="none" w="med" len="med"/>
                      <a:tailEnd type="none" w="med" len="med"/>
                    </a:lnL>
                    <a:lnR w="12700" cap="flat" cmpd="sng" algn="ctr">
                      <a:solidFill>
                        <a:srgbClr val="C3C3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3"/>
                      </a:solidFill>
                      <a:prstDash val="solid"/>
                      <a:round/>
                      <a:headEnd type="none" w="med" len="med"/>
                      <a:tailEnd type="none" w="med" len="med"/>
                    </a:lnB>
                    <a:solidFill>
                      <a:srgbClr val="F4F4F4"/>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нет</a:t>
                      </a:r>
                      <a:endParaRPr lang="en-US" sz="1268" dirty="0">
                        <a:latin typeface="Manrope" charset="0"/>
                        <a:ea typeface="Manrope" charset="0"/>
                        <a:cs typeface="Manrope" charset="0"/>
                      </a:endParaRPr>
                    </a:p>
                  </a:txBody>
                  <a:tcPr marL="56340" marR="56340" marT="56340" marB="56340" anchor="t">
                    <a:lnL w="12700" cap="flat" cmpd="sng" algn="ctr">
                      <a:solidFill>
                        <a:srgbClr val="C3C3C3"/>
                      </a:solidFill>
                      <a:prstDash val="solid"/>
                      <a:round/>
                      <a:headEnd type="none" w="med" len="med"/>
                      <a:tailEnd type="none" w="med" len="med"/>
                    </a:lnL>
                    <a:lnR w="12700" cap="flat" cmpd="sng" algn="ctr">
                      <a:solidFill>
                        <a:srgbClr val="C3C3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3"/>
                      </a:solidFill>
                      <a:prstDash val="solid"/>
                      <a:round/>
                      <a:headEnd type="none" w="med" len="med"/>
                      <a:tailEnd type="none" w="med" len="med"/>
                    </a:lnB>
                    <a:solidFill>
                      <a:srgbClr val="F4F4F4"/>
                    </a:solidFill>
                  </a:tcPr>
                </a:tc>
                <a:tc>
                  <a:txBody>
                    <a:bodyPr/>
                    <a:lstStyle/>
                    <a:p>
                      <a:pPr indent="0" marL="0">
                        <a:lnSpc>
                          <a:spcPts val="1774"/>
                        </a:lnSpc>
                        <a:buNone/>
                      </a:pPr>
                      <a:r>
                        <a:rPr lang="en-US" sz="1268" dirty="0">
                          <a:solidFill>
                            <a:srgbClr val="0D0D0D"/>
                          </a:solidFill>
                          <a:latin typeface="Manrope" pitchFamily="34" charset="0"/>
                          <a:ea typeface="Manrope" pitchFamily="34" charset="-122"/>
                          <a:cs typeface="Manrope" pitchFamily="34" charset="-120"/>
                        </a:rPr>
                        <a:t>да</a:t>
                      </a:r>
                      <a:endParaRPr lang="en-US" sz="1268" dirty="0">
                        <a:latin typeface="Manrope" charset="0"/>
                        <a:ea typeface="Manrope" charset="0"/>
                        <a:cs typeface="Manrope" charset="0"/>
                      </a:endParaRPr>
                    </a:p>
                  </a:txBody>
                  <a:tcPr marL="56340" marR="56340" marT="56340" marB="56340" anchor="t">
                    <a:lnL w="12700" cap="flat" cmpd="sng" algn="ctr">
                      <a:solidFill>
                        <a:srgbClr val="C3C3C3"/>
                      </a:solidFill>
                      <a:prstDash val="solid"/>
                      <a:round/>
                      <a:headEnd type="none" w="med" len="med"/>
                      <a:tailEnd type="none" w="med" len="med"/>
                    </a:lnL>
                    <a:lnR w="12700" cap="flat" cmpd="sng" algn="ctr">
                      <a:solidFill>
                        <a:srgbClr val="C3C3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3"/>
                      </a:solidFill>
                      <a:prstDash val="solid"/>
                      <a:round/>
                      <a:headEnd type="none" w="med" len="med"/>
                      <a:tailEnd type="none" w="med" len="med"/>
                    </a:lnB>
                    <a:solidFill>
                      <a:srgbClr val="F4F4F4"/>
                    </a:solidFill>
                  </a:tcPr>
                </a:tc>
              </a:tr>
            </a:tbl>
          </a:graphicData>
        </a:graphic>
      </p:graphicFrame>
      <p:sp>
        <p:nvSpPr>
          <p:cNvPr id="4" name="Text 1"/>
          <p:cNvSpPr/>
          <p:nvPr/>
        </p:nvSpPr>
        <p:spPr>
          <a:xfrm>
            <a:off x="812800" y="4770834"/>
            <a:ext cx="10883392" cy="527526"/>
          </a:xfrm>
          <a:prstGeom prst="rect">
            <a:avLst/>
          </a:prstGeom>
          <a:noFill/>
          <a:ln/>
        </p:spPr>
        <p:txBody>
          <a:bodyPr wrap="square" lIns="0" tIns="0" rIns="0" bIns="0" rtlCol="0" anchor="t">
            <a:normAutofit/>
          </a:bodyPr>
          <a:lstStyle/>
          <a:p>
            <a:pPr algn="l" indent="0" marL="0">
              <a:lnSpc>
                <a:spcPts val="1987"/>
              </a:lnSpc>
              <a:buNone/>
            </a:pPr>
            <a:r>
              <a:rPr lang="en-US" sz="1472" b="1" dirty="0">
                <a:solidFill>
                  <a:srgbClr val="0D0D0D"/>
                </a:solidFill>
                <a:latin typeface="Manrope" pitchFamily="34" charset="0"/>
                <a:ea typeface="Manrope" pitchFamily="34" charset="-122"/>
                <a:cs typeface="Manrope" pitchFamily="34" charset="-120"/>
              </a:rPr>
              <a:t>На доступных картах модель приходится сжимать и делить между ними через PCIe, поэтому каждая попытка генерации стоит дорого</a:t>
            </a:r>
            <a:endParaRPr lang="en-US" sz="1472" dirty="0"/>
          </a:p>
        </p:txBody>
      </p:sp>
      <p:sp>
        <p:nvSpPr>
          <p:cNvPr id="5" name="Text 2"/>
          <p:cNvSpPr/>
          <p:nvPr/>
        </p:nvSpPr>
        <p:spPr>
          <a:xfrm>
            <a:off x="812800" y="5425360"/>
            <a:ext cx="10883392" cy="442039"/>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6E6E80"/>
                </a:solidFill>
                <a:latin typeface="Manrope" pitchFamily="34" charset="0"/>
                <a:ea typeface="Manrope" pitchFamily="34" charset="-122"/>
                <a:cs typeface="Manrope" pitchFamily="34" charset="-120"/>
              </a:rPr>
              <a:t>Октябрь 2026. Цены и аренда рыночные и быстро меняются. Скорость связи указана в одну сторону. MiniMax H3 в BF16 с текстовым энкодером и VAE занимает около 124 ГБ.</a:t>
            </a:r>
            <a:endParaRPr lang="en-US" sz="1185" dirty="0"/>
          </a:p>
        </p:txBody>
      </p:sp>
      <p:sp>
        <p:nvSpPr>
          <p:cNvPr id="6" name="Text 3"/>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Гоцуляк Т. С. · ВКР · МАИ, 2026</a:t>
            </a:r>
            <a:endParaRPr lang="en-US" sz="1200" dirty="0"/>
          </a:p>
        </p:txBody>
      </p:sp>
      <p:sp>
        <p:nvSpPr>
          <p:cNvPr id="7" name="Text 4"/>
          <p:cNvSpPr/>
          <p:nvPr/>
        </p:nvSpPr>
        <p:spPr>
          <a:xfrm>
            <a:off x="9417050" y="6238241"/>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E80"/>
                </a:solidFill>
                <a:latin typeface="JetBrains Mono" pitchFamily="49" charset="0"/>
                <a:ea typeface="JetBrains Mono" pitchFamily="49" charset="-122"/>
                <a:cs typeface="JetBrains Mono" pitchFamily="49" charset="-120"/>
              </a:rPr>
              <a:t>00:00:03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11016"/>
          </a:xfrm>
          <a:prstGeom prst="rect">
            <a:avLst/>
          </a:prstGeom>
          <a:noFill/>
          <a:ln/>
        </p:spPr>
        <p:txBody>
          <a:bodyPr wrap="square" lIns="0" tIns="0" rIns="0" bIns="0" rtlCol="0" anchor="t">
            <a:normAutofit/>
          </a:bodyPr>
          <a:lstStyle/>
          <a:p>
            <a:pPr algn="l" indent="0" marL="0">
              <a:lnSpc>
                <a:spcPts val="3815"/>
              </a:lnSpc>
              <a:buNone/>
            </a:pPr>
            <a:r>
              <a:rPr lang="en-US" sz="3532" b="1" i="0" spc="-50" kern="0" dirty="0">
                <a:solidFill>
                  <a:srgbClr val="0D0D0D"/>
                </a:solidFill>
                <a:latin typeface="Manrope" pitchFamily="34" charset="0"/>
                <a:ea typeface="Manrope" pitchFamily="34" charset="-122"/>
                <a:cs typeface="Manrope" pitchFamily="34" charset="-120"/>
              </a:rPr>
              <a:t>Идея работы</a:t>
            </a:r>
            <a:endParaRPr lang="en-US" sz="3532" dirty="0"/>
          </a:p>
        </p:txBody>
      </p:sp>
      <p:sp>
        <p:nvSpPr>
          <p:cNvPr id="3" name="Text 1"/>
          <p:cNvSpPr/>
          <p:nvPr/>
        </p:nvSpPr>
        <p:spPr>
          <a:xfrm>
            <a:off x="812800" y="1527017"/>
            <a:ext cx="10883392" cy="625078"/>
          </a:xfrm>
          <a:prstGeom prst="rect">
            <a:avLst/>
          </a:prstGeom>
          <a:noFill/>
          <a:ln/>
        </p:spPr>
        <p:txBody>
          <a:bodyPr wrap="square" lIns="0" tIns="0" rIns="0" bIns="0" rtlCol="0" anchor="t">
            <a:normAutofit/>
          </a:bodyPr>
          <a:lstStyle/>
          <a:p>
            <a:pPr algn="l" indent="0" marL="0">
              <a:lnSpc>
                <a:spcPts val="2355"/>
              </a:lnSpc>
              <a:buNone/>
            </a:pPr>
            <a:r>
              <a:rPr lang="en-US" sz="1963" b="1" dirty="0">
                <a:solidFill>
                  <a:srgbClr val="0D0D0D"/>
                </a:solidFill>
                <a:latin typeface="Manrope" pitchFamily="34" charset="0"/>
                <a:ea typeface="Manrope" pitchFamily="34" charset="-122"/>
                <a:cs typeface="Manrope" pitchFamily="34" charset="-120"/>
              </a:rPr>
              <a:t>Система понимает, что нужно человеку, даже по плохому запросу, и превращает это в ролик за меньшее число более дешёвых попыток</a:t>
            </a:r>
            <a:endParaRPr lang="en-US" sz="1963" dirty="0"/>
          </a:p>
        </p:txBody>
      </p:sp>
      <p:sp>
        <p:nvSpPr>
          <p:cNvPr id="4" name="Shape 2"/>
          <p:cNvSpPr/>
          <p:nvPr/>
        </p:nvSpPr>
        <p:spPr>
          <a:xfrm>
            <a:off x="812800" y="2355295"/>
            <a:ext cx="10566400" cy="2081292"/>
          </a:xfrm>
          <a:prstGeom prst="roundRect">
            <a:avLst>
              <a:gd name="adj" fmla="val 3661"/>
            </a:avLst>
          </a:prstGeom>
          <a:solidFill>
            <a:srgbClr val="F4F4F4"/>
          </a:solidFill>
          <a:ln/>
        </p:spPr>
      </p:sp>
      <p:sp>
        <p:nvSpPr>
          <p:cNvPr id="5" name="Text 3"/>
          <p:cNvSpPr/>
          <p:nvPr/>
        </p:nvSpPr>
        <p:spPr>
          <a:xfrm>
            <a:off x="1066800" y="2663428"/>
            <a:ext cx="19621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JetBrains Mono" pitchFamily="49" charset="0"/>
                <a:ea typeface="JetBrains Mono" pitchFamily="49" charset="-122"/>
                <a:cs typeface="JetBrains Mono" pitchFamily="49" charset="-120"/>
              </a:rPr>
              <a:t>Ручная работа</a:t>
            </a:r>
            <a:endParaRPr lang="en-US" sz="1200" dirty="0"/>
          </a:p>
        </p:txBody>
      </p:sp>
      <p:sp>
        <p:nvSpPr>
          <p:cNvPr id="6" name="Text 4"/>
          <p:cNvSpPr/>
          <p:nvPr/>
        </p:nvSpPr>
        <p:spPr>
          <a:xfrm>
            <a:off x="3124200" y="2579608"/>
            <a:ext cx="1498600" cy="381000"/>
          </a:xfrm>
          <a:prstGeom prst="roundRect">
            <a:avLst>
              <a:gd name="adj" fmla="val 10000"/>
            </a:avLst>
          </a:prstGeom>
          <a:solidFill>
            <a:srgbClr val="D4D4DA"/>
          </a:solidFill>
          <a:ln/>
        </p:spPr>
        <p:txBody>
          <a:bodyPr wrap="square" lIns="90441" tIns="0" rIns="90441" bIns="0" rtlCol="0" anchor="ctr">
            <a:normAutofit/>
          </a:bodyPr>
          <a:lstStyle/>
          <a:p>
            <a:pPr algn="l" indent="0" marL="0">
              <a:lnSpc>
                <a:spcPts val="1680"/>
              </a:lnSpc>
              <a:buNone/>
            </a:pPr>
            <a:r>
              <a:rPr lang="en-US" sz="1200" dirty="0">
                <a:solidFill>
                  <a:srgbClr val="0D0D0D"/>
                </a:solidFill>
                <a:latin typeface="Manrope" pitchFamily="34" charset="0"/>
                <a:ea typeface="Manrope" pitchFamily="34" charset="-122"/>
                <a:cs typeface="Manrope" pitchFamily="34" charset="-120"/>
              </a:rPr>
              <a:t>правка</a:t>
            </a:r>
            <a:endParaRPr lang="en-US" sz="1200" dirty="0"/>
          </a:p>
        </p:txBody>
      </p:sp>
      <p:sp>
        <p:nvSpPr>
          <p:cNvPr id="7" name="Text 5"/>
          <p:cNvSpPr/>
          <p:nvPr/>
        </p:nvSpPr>
        <p:spPr>
          <a:xfrm>
            <a:off x="4673600" y="2579608"/>
            <a:ext cx="1498600" cy="381000"/>
          </a:xfrm>
          <a:prstGeom prst="roundRect">
            <a:avLst>
              <a:gd name="adj" fmla="val 10000"/>
            </a:avLst>
          </a:prstGeom>
          <a:solidFill>
            <a:srgbClr val="D4D4DA"/>
          </a:solidFill>
          <a:ln/>
        </p:spPr>
        <p:txBody>
          <a:bodyPr wrap="square" lIns="90441" tIns="0" rIns="90441" bIns="0" rtlCol="0" anchor="ctr">
            <a:normAutofit/>
          </a:bodyPr>
          <a:lstStyle/>
          <a:p>
            <a:pPr algn="l" indent="0" marL="0">
              <a:lnSpc>
                <a:spcPts val="1680"/>
              </a:lnSpc>
              <a:buNone/>
            </a:pPr>
            <a:r>
              <a:rPr lang="en-US" sz="1200" dirty="0">
                <a:solidFill>
                  <a:srgbClr val="0D0D0D"/>
                </a:solidFill>
                <a:latin typeface="Manrope" pitchFamily="34" charset="0"/>
                <a:ea typeface="Manrope" pitchFamily="34" charset="-122"/>
                <a:cs typeface="Manrope" pitchFamily="34" charset="-120"/>
              </a:rPr>
              <a:t>забыла деталь</a:t>
            </a:r>
            <a:endParaRPr lang="en-US" sz="1200" dirty="0"/>
          </a:p>
        </p:txBody>
      </p:sp>
      <p:sp>
        <p:nvSpPr>
          <p:cNvPr id="8" name="Text 6"/>
          <p:cNvSpPr/>
          <p:nvPr/>
        </p:nvSpPr>
        <p:spPr>
          <a:xfrm>
            <a:off x="6223000" y="2579608"/>
            <a:ext cx="1498600" cy="381000"/>
          </a:xfrm>
          <a:prstGeom prst="roundRect">
            <a:avLst>
              <a:gd name="adj" fmla="val 10000"/>
            </a:avLst>
          </a:prstGeom>
          <a:solidFill>
            <a:srgbClr val="D4D4DA"/>
          </a:solidFill>
          <a:ln/>
        </p:spPr>
        <p:txBody>
          <a:bodyPr wrap="square" lIns="90441" tIns="0" rIns="90441" bIns="0" rtlCol="0" anchor="ctr">
            <a:normAutofit/>
          </a:bodyPr>
          <a:lstStyle/>
          <a:p>
            <a:pPr algn="l" indent="0" marL="0">
              <a:lnSpc>
                <a:spcPts val="1680"/>
              </a:lnSpc>
              <a:buNone/>
            </a:pPr>
            <a:r>
              <a:rPr lang="en-US" sz="1200" dirty="0">
                <a:solidFill>
                  <a:srgbClr val="0D0D0D"/>
                </a:solidFill>
                <a:latin typeface="Manrope" pitchFamily="34" charset="0"/>
                <a:ea typeface="Manrope" pitchFamily="34" charset="-122"/>
                <a:cs typeface="Manrope" pitchFamily="34" charset="-120"/>
              </a:rPr>
              <a:t>регрессия</a:t>
            </a:r>
            <a:endParaRPr lang="en-US" sz="1200" dirty="0"/>
          </a:p>
        </p:txBody>
      </p:sp>
      <p:sp>
        <p:nvSpPr>
          <p:cNvPr id="9" name="Text 7"/>
          <p:cNvSpPr/>
          <p:nvPr/>
        </p:nvSpPr>
        <p:spPr>
          <a:xfrm>
            <a:off x="7772400" y="2579608"/>
            <a:ext cx="1498600" cy="381000"/>
          </a:xfrm>
          <a:prstGeom prst="roundRect">
            <a:avLst>
              <a:gd name="adj" fmla="val 10000"/>
            </a:avLst>
          </a:prstGeom>
          <a:solidFill>
            <a:srgbClr val="D4D4DA"/>
          </a:solidFill>
          <a:ln/>
        </p:spPr>
        <p:txBody>
          <a:bodyPr wrap="square" lIns="90441" tIns="0" rIns="90441" bIns="0" rtlCol="0" anchor="ctr">
            <a:normAutofit/>
          </a:bodyPr>
          <a:lstStyle/>
          <a:p>
            <a:pPr algn="l" indent="0" marL="0">
              <a:lnSpc>
                <a:spcPts val="1680"/>
              </a:lnSpc>
              <a:buNone/>
            </a:pPr>
            <a:r>
              <a:rPr lang="en-US" sz="1200" dirty="0">
                <a:solidFill>
                  <a:srgbClr val="0D0D0D"/>
                </a:solidFill>
                <a:latin typeface="Manrope" pitchFamily="34" charset="0"/>
                <a:ea typeface="Manrope" pitchFamily="34" charset="-122"/>
                <a:cs typeface="Manrope" pitchFamily="34" charset="-120"/>
              </a:rPr>
              <a:t>случайность</a:t>
            </a:r>
            <a:endParaRPr lang="en-US" sz="1200" dirty="0"/>
          </a:p>
        </p:txBody>
      </p:sp>
      <p:sp>
        <p:nvSpPr>
          <p:cNvPr id="10" name="Text 8"/>
          <p:cNvSpPr/>
          <p:nvPr/>
        </p:nvSpPr>
        <p:spPr>
          <a:xfrm>
            <a:off x="9321800" y="2579608"/>
            <a:ext cx="1498600" cy="381000"/>
          </a:xfrm>
          <a:prstGeom prst="roundRect">
            <a:avLst>
              <a:gd name="adj" fmla="val 10000"/>
            </a:avLst>
          </a:prstGeom>
          <a:solidFill>
            <a:srgbClr val="D4D4DA"/>
          </a:solidFill>
          <a:ln/>
        </p:spPr>
        <p:txBody>
          <a:bodyPr wrap="square" lIns="90441" tIns="0" rIns="90441" bIns="0" rtlCol="0" anchor="ctr">
            <a:normAutofit/>
          </a:bodyPr>
          <a:lstStyle/>
          <a:p>
            <a:pPr algn="l" indent="0" marL="0">
              <a:lnSpc>
                <a:spcPts val="1680"/>
              </a:lnSpc>
              <a:buNone/>
            </a:pPr>
            <a:r>
              <a:rPr lang="en-US" sz="1200" dirty="0">
                <a:solidFill>
                  <a:srgbClr val="0D0D0D"/>
                </a:solidFill>
                <a:latin typeface="Manrope" pitchFamily="34" charset="0"/>
                <a:ea typeface="Manrope" pitchFamily="34" charset="-122"/>
                <a:cs typeface="Manrope" pitchFamily="34" charset="-120"/>
              </a:rPr>
              <a:t>принят</a:t>
            </a:r>
            <a:endParaRPr lang="en-US" sz="1200" dirty="0"/>
          </a:p>
        </p:txBody>
      </p:sp>
      <p:sp>
        <p:nvSpPr>
          <p:cNvPr id="11" name="Text 9"/>
          <p:cNvSpPr/>
          <p:nvPr/>
        </p:nvSpPr>
        <p:spPr>
          <a:xfrm>
            <a:off x="1066800" y="3162776"/>
            <a:ext cx="19621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JetBrains Mono" pitchFamily="49" charset="0"/>
                <a:ea typeface="JetBrains Mono" pitchFamily="49" charset="-122"/>
                <a:cs typeface="JetBrains Mono" pitchFamily="49" charset="-120"/>
              </a:rPr>
              <a:t>Наш подход</a:t>
            </a:r>
            <a:endParaRPr lang="en-US" sz="1200" dirty="0"/>
          </a:p>
        </p:txBody>
      </p:sp>
      <p:sp>
        <p:nvSpPr>
          <p:cNvPr id="12" name="Text 10"/>
          <p:cNvSpPr/>
          <p:nvPr/>
        </p:nvSpPr>
        <p:spPr>
          <a:xfrm>
            <a:off x="3124200" y="3079035"/>
            <a:ext cx="1016000" cy="381000"/>
          </a:xfrm>
          <a:prstGeom prst="roundRect">
            <a:avLst>
              <a:gd name="adj" fmla="val 10000"/>
            </a:avLst>
          </a:prstGeom>
          <a:solidFill>
            <a:srgbClr val="BDBDC6"/>
          </a:solidFill>
          <a:ln/>
        </p:spPr>
        <p:txBody>
          <a:bodyPr wrap="square" lIns="90441" tIns="0" rIns="90441" bIns="0" rtlCol="0" anchor="ctr">
            <a:normAutofit/>
          </a:bodyPr>
          <a:lstStyle/>
          <a:p>
            <a:pPr algn="l" indent="0" marL="0">
              <a:lnSpc>
                <a:spcPts val="1680"/>
              </a:lnSpc>
              <a:buNone/>
            </a:pPr>
            <a:r>
              <a:rPr lang="en-US" sz="1200" dirty="0">
                <a:solidFill>
                  <a:srgbClr val="0D0D0D"/>
                </a:solidFill>
                <a:latin typeface="Manrope" pitchFamily="34" charset="0"/>
                <a:ea typeface="Manrope" pitchFamily="34" charset="-122"/>
                <a:cs typeface="Manrope" pitchFamily="34" charset="-120"/>
              </a:rPr>
              <a:t>правка</a:t>
            </a:r>
            <a:endParaRPr lang="en-US" sz="1200" dirty="0"/>
          </a:p>
        </p:txBody>
      </p:sp>
      <p:sp>
        <p:nvSpPr>
          <p:cNvPr id="13" name="Text 11"/>
          <p:cNvSpPr/>
          <p:nvPr/>
        </p:nvSpPr>
        <p:spPr>
          <a:xfrm>
            <a:off x="4191000" y="3079035"/>
            <a:ext cx="1016000" cy="381000"/>
          </a:xfrm>
          <a:prstGeom prst="roundRect">
            <a:avLst>
              <a:gd name="adj" fmla="val 10000"/>
            </a:avLst>
          </a:prstGeom>
          <a:solidFill>
            <a:srgbClr val="0D0D0D"/>
          </a:solidFill>
          <a:ln/>
        </p:spPr>
        <p:txBody>
          <a:bodyPr wrap="square" lIns="90441" tIns="0" rIns="90441" bIns="0" rtlCol="0" anchor="ctr">
            <a:normAutofit/>
          </a:bodyPr>
          <a:lstStyle/>
          <a:p>
            <a:pPr algn="l" indent="0" marL="0">
              <a:lnSpc>
                <a:spcPts val="1680"/>
              </a:lnSpc>
              <a:buNone/>
            </a:pPr>
            <a:r>
              <a:rPr lang="en-US" sz="1200" dirty="0">
                <a:solidFill>
                  <a:srgbClr val="FFFFFF"/>
                </a:solidFill>
                <a:latin typeface="Manrope" pitchFamily="34" charset="0"/>
                <a:ea typeface="Manrope" pitchFamily="34" charset="-122"/>
                <a:cs typeface="Manrope" pitchFamily="34" charset="-120"/>
              </a:rPr>
              <a:t>принят</a:t>
            </a:r>
            <a:endParaRPr lang="en-US" sz="1200" dirty="0"/>
          </a:p>
        </p:txBody>
      </p:sp>
      <p:sp>
        <p:nvSpPr>
          <p:cNvPr id="14" name="Text 12"/>
          <p:cNvSpPr/>
          <p:nvPr/>
        </p:nvSpPr>
        <p:spPr>
          <a:xfrm>
            <a:off x="3124200" y="3580288"/>
            <a:ext cx="69128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D0D0D"/>
                </a:solidFill>
                <a:latin typeface="JetBrains Mono" pitchFamily="49" charset="0"/>
                <a:ea typeface="JetBrains Mono" pitchFamily="49" charset="-122"/>
                <a:cs typeface="JetBrains Mono" pitchFamily="49" charset="-120"/>
              </a:rPr>
              <a:t>GPU-время на принятый ролик = число попыток × стоимость попытки</a:t>
            </a:r>
            <a:endParaRPr lang="en-US" sz="1200" dirty="0"/>
          </a:p>
        </p:txBody>
      </p:sp>
      <p:sp>
        <p:nvSpPr>
          <p:cNvPr id="15" name="Shape 13"/>
          <p:cNvSpPr/>
          <p:nvPr/>
        </p:nvSpPr>
        <p:spPr>
          <a:xfrm>
            <a:off x="1066800" y="3921364"/>
            <a:ext cx="10058400" cy="0"/>
          </a:xfrm>
          <a:prstGeom prst="line">
            <a:avLst/>
          </a:prstGeom>
          <a:noFill/>
          <a:ln w="6350">
            <a:solidFill>
              <a:srgbClr val="CFCFD6"/>
            </a:solidFill>
            <a:prstDash val="solid"/>
          </a:ln>
        </p:spPr>
      </p:sp>
      <p:sp>
        <p:nvSpPr>
          <p:cNvPr id="16" name="Text 14"/>
          <p:cNvSpPr/>
          <p:nvPr/>
        </p:nvSpPr>
        <p:spPr>
          <a:xfrm>
            <a:off x="765048" y="3997088"/>
            <a:ext cx="10360152"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E80"/>
                </a:solidFill>
                <a:latin typeface="JetBrains Mono" pitchFamily="49" charset="0"/>
                <a:ea typeface="JetBrains Mono" pitchFamily="49" charset="-122"/>
                <a:cs typeface="JetBrains Mono" pitchFamily="49" charset="-120"/>
              </a:rPr>
              <a:t>GPU-время →</a:t>
            </a:r>
            <a:endParaRPr lang="en-US" sz="1200" dirty="0"/>
          </a:p>
        </p:txBody>
      </p:sp>
      <p:sp>
        <p:nvSpPr>
          <p:cNvPr id="17" name="Shape 15"/>
          <p:cNvSpPr/>
          <p:nvPr/>
        </p:nvSpPr>
        <p:spPr>
          <a:xfrm>
            <a:off x="812800" y="4674712"/>
            <a:ext cx="5130800" cy="0"/>
          </a:xfrm>
          <a:prstGeom prst="line">
            <a:avLst/>
          </a:prstGeom>
          <a:noFill/>
          <a:ln w="19050">
            <a:solidFill>
              <a:srgbClr val="0D0D0D"/>
            </a:solidFill>
            <a:prstDash val="solid"/>
          </a:ln>
        </p:spPr>
      </p:sp>
      <p:sp>
        <p:nvSpPr>
          <p:cNvPr id="18" name="Text 16"/>
          <p:cNvSpPr/>
          <p:nvPr/>
        </p:nvSpPr>
        <p:spPr>
          <a:xfrm>
            <a:off x="812800" y="4807426"/>
            <a:ext cx="5284724" cy="26439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D0D0D"/>
                </a:solidFill>
                <a:latin typeface="Manrope" pitchFamily="34" charset="0"/>
                <a:ea typeface="Manrope" pitchFamily="34" charset="-122"/>
                <a:cs typeface="Manrope" pitchFamily="34" charset="-120"/>
              </a:rPr>
              <a:t>Аппаратный рычаг</a:t>
            </a:r>
            <a:endParaRPr lang="en-US" sz="1600" dirty="0"/>
          </a:p>
        </p:txBody>
      </p:sp>
      <p:sp>
        <p:nvSpPr>
          <p:cNvPr id="19" name="Text 17"/>
          <p:cNvSpPr/>
          <p:nvPr/>
        </p:nvSpPr>
        <p:spPr>
          <a:xfrm>
            <a:off x="812800" y="5109925"/>
            <a:ext cx="5284724" cy="757476"/>
          </a:xfrm>
          <a:prstGeom prst="rect">
            <a:avLst/>
          </a:prstGeom>
          <a:noFill/>
          <a:ln/>
        </p:spPr>
        <p:txBody>
          <a:bodyPr wrap="square" lIns="0" tIns="0" rIns="0" bIns="0" rtlCol="0" anchor="t">
            <a:normAutofit/>
          </a:bodyPr>
          <a:lstStyle/>
          <a:p>
            <a:pPr algn="l" indent="0" marL="0">
              <a:lnSpc>
                <a:spcPts val="1923"/>
              </a:lnSpc>
              <a:buNone/>
            </a:pPr>
            <a:r>
              <a:rPr lang="en-US" sz="1374" dirty="0">
                <a:solidFill>
                  <a:srgbClr val="353740"/>
                </a:solidFill>
                <a:latin typeface="Manrope" pitchFamily="34" charset="0"/>
                <a:ea typeface="Manrope" pitchFamily="34" charset="-122"/>
                <a:cs typeface="Manrope" pitchFamily="34" charset="-120"/>
              </a:rPr>
              <a:t>Гипотеза 1: комбинация методов запуска снижает стоимость попытки на потребительских GPU при допустимой потере качества</a:t>
            </a:r>
            <a:endParaRPr lang="en-US" sz="1374" dirty="0"/>
          </a:p>
        </p:txBody>
      </p:sp>
      <p:sp>
        <p:nvSpPr>
          <p:cNvPr id="20" name="Shape 18"/>
          <p:cNvSpPr/>
          <p:nvPr/>
        </p:nvSpPr>
        <p:spPr>
          <a:xfrm>
            <a:off x="6248400" y="4674712"/>
            <a:ext cx="5130800" cy="0"/>
          </a:xfrm>
          <a:prstGeom prst="line">
            <a:avLst/>
          </a:prstGeom>
          <a:noFill/>
          <a:ln w="19050">
            <a:solidFill>
              <a:srgbClr val="0D0D0D"/>
            </a:solidFill>
            <a:prstDash val="solid"/>
          </a:ln>
        </p:spPr>
      </p:sp>
      <p:sp>
        <p:nvSpPr>
          <p:cNvPr id="21" name="Text 19"/>
          <p:cNvSpPr/>
          <p:nvPr/>
        </p:nvSpPr>
        <p:spPr>
          <a:xfrm>
            <a:off x="6248400" y="4807426"/>
            <a:ext cx="5284724" cy="26439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D0D0D"/>
                </a:solidFill>
                <a:latin typeface="Manrope" pitchFamily="34" charset="0"/>
                <a:ea typeface="Manrope" pitchFamily="34" charset="-122"/>
                <a:cs typeface="Manrope" pitchFamily="34" charset="-120"/>
              </a:rPr>
              <a:t>Интеллектуальный рычаг</a:t>
            </a:r>
            <a:endParaRPr lang="en-US" sz="1600" dirty="0"/>
          </a:p>
        </p:txBody>
      </p:sp>
      <p:sp>
        <p:nvSpPr>
          <p:cNvPr id="22" name="Text 20"/>
          <p:cNvSpPr/>
          <p:nvPr/>
        </p:nvSpPr>
        <p:spPr>
          <a:xfrm>
            <a:off x="6248400" y="5109925"/>
            <a:ext cx="5284724" cy="757476"/>
          </a:xfrm>
          <a:prstGeom prst="rect">
            <a:avLst/>
          </a:prstGeom>
          <a:noFill/>
          <a:ln/>
        </p:spPr>
        <p:txBody>
          <a:bodyPr wrap="square" lIns="0" tIns="0" rIns="0" bIns="0" rtlCol="0" anchor="t">
            <a:normAutofit/>
          </a:bodyPr>
          <a:lstStyle/>
          <a:p>
            <a:pPr algn="l" indent="0" marL="0">
              <a:lnSpc>
                <a:spcPts val="1923"/>
              </a:lnSpc>
              <a:buNone/>
            </a:pPr>
            <a:r>
              <a:rPr lang="en-US" sz="1374" dirty="0">
                <a:solidFill>
                  <a:srgbClr val="353740"/>
                </a:solidFill>
                <a:latin typeface="Manrope" pitchFamily="34" charset="0"/>
                <a:ea typeface="Manrope" pitchFamily="34" charset="-122"/>
                <a:cs typeface="Manrope" pitchFamily="34" charset="-120"/>
              </a:rPr>
              <a:t>Гипотеза 2: явная модель замысла, по которой LLM подбирает промпт и параметры генерации, сокращает число итераций и регрессий</a:t>
            </a:r>
            <a:endParaRPr lang="en-US" sz="1374" dirty="0"/>
          </a:p>
        </p:txBody>
      </p:sp>
      <p:sp>
        <p:nvSpPr>
          <p:cNvPr id="23" name="Text 21"/>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Гоцуляк Т. С. · ВКР · МАИ, 2026</a:t>
            </a:r>
            <a:endParaRPr lang="en-US" sz="1200" dirty="0"/>
          </a:p>
        </p:txBody>
      </p:sp>
      <p:sp>
        <p:nvSpPr>
          <p:cNvPr id="24" name="Text 22"/>
          <p:cNvSpPr/>
          <p:nvPr/>
        </p:nvSpPr>
        <p:spPr>
          <a:xfrm>
            <a:off x="9417050" y="6238239"/>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E80"/>
                </a:solidFill>
                <a:latin typeface="JetBrains Mono" pitchFamily="49" charset="0"/>
                <a:ea typeface="JetBrains Mono" pitchFamily="49" charset="-122"/>
                <a:cs typeface="JetBrains Mono" pitchFamily="49" charset="-120"/>
              </a:rPr>
              <a:t>00:00:04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i="0" spc="-50" kern="0" dirty="0">
                <a:solidFill>
                  <a:srgbClr val="0D0D0D"/>
                </a:solidFill>
                <a:latin typeface="Manrope" pitchFamily="34" charset="0"/>
                <a:ea typeface="Manrope" pitchFamily="34" charset="-122"/>
                <a:cs typeface="Manrope" pitchFamily="34" charset="-120"/>
              </a:rPr>
              <a:t>Задачи</a:t>
            </a:r>
            <a:endParaRPr lang="en-US" sz="3600" dirty="0"/>
          </a:p>
        </p:txBody>
      </p:sp>
      <p:sp>
        <p:nvSpPr>
          <p:cNvPr id="3" name="Shape 1"/>
          <p:cNvSpPr/>
          <p:nvPr/>
        </p:nvSpPr>
        <p:spPr>
          <a:xfrm>
            <a:off x="812800" y="1563688"/>
            <a:ext cx="10566400" cy="0"/>
          </a:xfrm>
          <a:prstGeom prst="line">
            <a:avLst/>
          </a:prstGeom>
          <a:noFill/>
          <a:ln w="6350">
            <a:solidFill>
              <a:srgbClr val="E5E5E5"/>
            </a:solidFill>
            <a:prstDash val="solid"/>
          </a:ln>
        </p:spPr>
      </p:sp>
      <p:sp>
        <p:nvSpPr>
          <p:cNvPr id="4" name="Text 2"/>
          <p:cNvSpPr/>
          <p:nvPr/>
        </p:nvSpPr>
        <p:spPr>
          <a:xfrm>
            <a:off x="812800" y="1679894"/>
            <a:ext cx="457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D0D0D"/>
                </a:solidFill>
                <a:latin typeface="JetBrains Mono" pitchFamily="49" charset="0"/>
                <a:ea typeface="JetBrains Mono" pitchFamily="49" charset="-122"/>
                <a:cs typeface="JetBrains Mono" pitchFamily="49" charset="-120"/>
              </a:rPr>
              <a:t>01</a:t>
            </a:r>
            <a:endParaRPr lang="en-US" sz="1500" dirty="0"/>
          </a:p>
        </p:txBody>
      </p:sp>
      <p:sp>
        <p:nvSpPr>
          <p:cNvPr id="5" name="Text 3"/>
          <p:cNvSpPr/>
          <p:nvPr/>
        </p:nvSpPr>
        <p:spPr>
          <a:xfrm>
            <a:off x="1473200" y="1679894"/>
            <a:ext cx="1020318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D0D0D"/>
                </a:solidFill>
                <a:latin typeface="Manrope" pitchFamily="34" charset="0"/>
                <a:ea typeface="Manrope" pitchFamily="34" charset="-122"/>
                <a:cs typeface="Manrope" pitchFamily="34" charset="-120"/>
              </a:rPr>
              <a:t>Обзор и классификация: открытые видеомодели, GPU, методы ускорения, агентные сервисы генерации видео</a:t>
            </a:r>
            <a:endParaRPr lang="en-US" sz="1500" dirty="0"/>
          </a:p>
        </p:txBody>
      </p:sp>
      <p:sp>
        <p:nvSpPr>
          <p:cNvPr id="6" name="Shape 4"/>
          <p:cNvSpPr/>
          <p:nvPr/>
        </p:nvSpPr>
        <p:spPr>
          <a:xfrm>
            <a:off x="812800" y="2311719"/>
            <a:ext cx="10566400" cy="0"/>
          </a:xfrm>
          <a:prstGeom prst="line">
            <a:avLst/>
          </a:prstGeom>
          <a:noFill/>
          <a:ln w="6350">
            <a:solidFill>
              <a:srgbClr val="E5E5E5"/>
            </a:solidFill>
            <a:prstDash val="solid"/>
          </a:ln>
        </p:spPr>
      </p:sp>
      <p:sp>
        <p:nvSpPr>
          <p:cNvPr id="7" name="Text 5"/>
          <p:cNvSpPr/>
          <p:nvPr/>
        </p:nvSpPr>
        <p:spPr>
          <a:xfrm>
            <a:off x="812800" y="2427923"/>
            <a:ext cx="457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D0D0D"/>
                </a:solidFill>
                <a:latin typeface="JetBrains Mono" pitchFamily="49" charset="0"/>
                <a:ea typeface="JetBrains Mono" pitchFamily="49" charset="-122"/>
                <a:cs typeface="JetBrains Mono" pitchFamily="49" charset="-120"/>
              </a:rPr>
              <a:t>02</a:t>
            </a:r>
            <a:endParaRPr lang="en-US" sz="1500" dirty="0"/>
          </a:p>
        </p:txBody>
      </p:sp>
      <p:sp>
        <p:nvSpPr>
          <p:cNvPr id="8" name="Text 6"/>
          <p:cNvSpPr/>
          <p:nvPr/>
        </p:nvSpPr>
        <p:spPr>
          <a:xfrm>
            <a:off x="1473200" y="2427923"/>
            <a:ext cx="102031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D0D0D"/>
                </a:solidFill>
                <a:latin typeface="Manrope" pitchFamily="34" charset="0"/>
                <a:ea typeface="Manrope" pitchFamily="34" charset="-122"/>
                <a:cs typeface="Manrope" pitchFamily="34" charset="-120"/>
              </a:rPr>
              <a:t>Исследование влияния методов запуска модели на стоимость попытки и качество на потребительских GPU</a:t>
            </a:r>
            <a:endParaRPr lang="en-US" sz="1500" dirty="0"/>
          </a:p>
        </p:txBody>
      </p:sp>
      <p:sp>
        <p:nvSpPr>
          <p:cNvPr id="9" name="Text 7"/>
          <p:cNvSpPr/>
          <p:nvPr/>
        </p:nvSpPr>
        <p:spPr>
          <a:xfrm>
            <a:off x="1473200" y="2723198"/>
            <a:ext cx="102031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аппаратный рычаг</a:t>
            </a:r>
            <a:endParaRPr lang="en-US" sz="1200" dirty="0"/>
          </a:p>
        </p:txBody>
      </p:sp>
      <p:sp>
        <p:nvSpPr>
          <p:cNvPr id="10" name="Shape 8"/>
          <p:cNvSpPr/>
          <p:nvPr/>
        </p:nvSpPr>
        <p:spPr>
          <a:xfrm>
            <a:off x="812800" y="3054034"/>
            <a:ext cx="10566400" cy="0"/>
          </a:xfrm>
          <a:prstGeom prst="line">
            <a:avLst/>
          </a:prstGeom>
          <a:noFill/>
          <a:ln w="6350">
            <a:solidFill>
              <a:srgbClr val="E5E5E5"/>
            </a:solidFill>
            <a:prstDash val="solid"/>
          </a:ln>
        </p:spPr>
      </p:sp>
      <p:sp>
        <p:nvSpPr>
          <p:cNvPr id="11" name="Text 9"/>
          <p:cNvSpPr/>
          <p:nvPr/>
        </p:nvSpPr>
        <p:spPr>
          <a:xfrm>
            <a:off x="812800" y="3170238"/>
            <a:ext cx="457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D0D0D"/>
                </a:solidFill>
                <a:latin typeface="JetBrains Mono" pitchFamily="49" charset="0"/>
                <a:ea typeface="JetBrains Mono" pitchFamily="49" charset="-122"/>
                <a:cs typeface="JetBrains Mono" pitchFamily="49" charset="-120"/>
              </a:rPr>
              <a:t>03</a:t>
            </a:r>
            <a:endParaRPr lang="en-US" sz="1500" dirty="0"/>
          </a:p>
        </p:txBody>
      </p:sp>
      <p:sp>
        <p:nvSpPr>
          <p:cNvPr id="12" name="Text 10"/>
          <p:cNvSpPr/>
          <p:nvPr/>
        </p:nvSpPr>
        <p:spPr>
          <a:xfrm>
            <a:off x="1473200" y="3170238"/>
            <a:ext cx="1020318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D0D0D"/>
                </a:solidFill>
                <a:latin typeface="Manrope" pitchFamily="34" charset="0"/>
                <a:ea typeface="Manrope" pitchFamily="34" charset="-122"/>
                <a:cs typeface="Manrope" pitchFamily="34" charset="-120"/>
              </a:rPr>
              <a:t>Разработка мультиагентного алгоритма, который восстанавливает замысел из краткого запроса в явную модель, подбирает по ней промпт и параметры генерации и уточняет её по замечаниям без регрессий</a:t>
            </a:r>
            <a:endParaRPr lang="en-US" sz="1500" dirty="0"/>
          </a:p>
        </p:txBody>
      </p:sp>
      <p:sp>
        <p:nvSpPr>
          <p:cNvPr id="13" name="Text 11"/>
          <p:cNvSpPr/>
          <p:nvPr/>
        </p:nvSpPr>
        <p:spPr>
          <a:xfrm>
            <a:off x="1473200" y="3722688"/>
            <a:ext cx="102031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интеллектуальный рычаг</a:t>
            </a:r>
            <a:endParaRPr lang="en-US" sz="1200" dirty="0"/>
          </a:p>
        </p:txBody>
      </p:sp>
      <p:sp>
        <p:nvSpPr>
          <p:cNvPr id="14" name="Shape 12"/>
          <p:cNvSpPr/>
          <p:nvPr/>
        </p:nvSpPr>
        <p:spPr>
          <a:xfrm>
            <a:off x="812800" y="4053523"/>
            <a:ext cx="10566400" cy="0"/>
          </a:xfrm>
          <a:prstGeom prst="line">
            <a:avLst/>
          </a:prstGeom>
          <a:noFill/>
          <a:ln w="6350">
            <a:solidFill>
              <a:srgbClr val="E5E5E5"/>
            </a:solidFill>
            <a:prstDash val="solid"/>
          </a:ln>
        </p:spPr>
      </p:sp>
      <p:sp>
        <p:nvSpPr>
          <p:cNvPr id="15" name="Text 13"/>
          <p:cNvSpPr/>
          <p:nvPr/>
        </p:nvSpPr>
        <p:spPr>
          <a:xfrm>
            <a:off x="812800" y="4169727"/>
            <a:ext cx="457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D0D0D"/>
                </a:solidFill>
                <a:latin typeface="JetBrains Mono" pitchFamily="49" charset="0"/>
                <a:ea typeface="JetBrains Mono" pitchFamily="49" charset="-122"/>
                <a:cs typeface="JetBrains Mono" pitchFamily="49" charset="-120"/>
              </a:rPr>
              <a:t>04</a:t>
            </a:r>
            <a:endParaRPr lang="en-US" sz="1500" dirty="0"/>
          </a:p>
        </p:txBody>
      </p:sp>
      <p:sp>
        <p:nvSpPr>
          <p:cNvPr id="16" name="Text 14"/>
          <p:cNvSpPr/>
          <p:nvPr/>
        </p:nvSpPr>
        <p:spPr>
          <a:xfrm>
            <a:off x="1473200" y="4169727"/>
            <a:ext cx="102031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D0D0D"/>
                </a:solidFill>
                <a:latin typeface="Manrope" pitchFamily="34" charset="0"/>
                <a:ea typeface="Manrope" pitchFamily="34" charset="-122"/>
                <a:cs typeface="Manrope" pitchFamily="34" charset="-120"/>
              </a:rPr>
              <a:t>Реализация программного обеспечения на открытых моделях и арендуемых GPU</a:t>
            </a:r>
            <a:endParaRPr lang="en-US" sz="1500" dirty="0"/>
          </a:p>
        </p:txBody>
      </p:sp>
      <p:sp>
        <p:nvSpPr>
          <p:cNvPr id="17" name="Shape 15"/>
          <p:cNvSpPr/>
          <p:nvPr/>
        </p:nvSpPr>
        <p:spPr>
          <a:xfrm>
            <a:off x="812800" y="4553902"/>
            <a:ext cx="10566400" cy="0"/>
          </a:xfrm>
          <a:prstGeom prst="line">
            <a:avLst/>
          </a:prstGeom>
          <a:noFill/>
          <a:ln w="6350">
            <a:solidFill>
              <a:srgbClr val="E5E5E5"/>
            </a:solidFill>
            <a:prstDash val="solid"/>
          </a:ln>
        </p:spPr>
      </p:sp>
      <p:sp>
        <p:nvSpPr>
          <p:cNvPr id="18" name="Shape 16"/>
          <p:cNvSpPr/>
          <p:nvPr/>
        </p:nvSpPr>
        <p:spPr>
          <a:xfrm>
            <a:off x="812800" y="5300662"/>
            <a:ext cx="10566400" cy="0"/>
          </a:xfrm>
          <a:prstGeom prst="line">
            <a:avLst/>
          </a:prstGeom>
          <a:noFill/>
          <a:ln w="6350">
            <a:solidFill>
              <a:srgbClr val="E5E5E5"/>
            </a:solidFill>
            <a:prstDash val="solid"/>
          </a:ln>
        </p:spPr>
      </p:sp>
      <p:sp>
        <p:nvSpPr>
          <p:cNvPr id="19" name="Text 17"/>
          <p:cNvSpPr/>
          <p:nvPr/>
        </p:nvSpPr>
        <p:spPr>
          <a:xfrm>
            <a:off x="812800" y="4670109"/>
            <a:ext cx="457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D0D0D"/>
                </a:solidFill>
                <a:latin typeface="JetBrains Mono" pitchFamily="49" charset="0"/>
                <a:ea typeface="JetBrains Mono" pitchFamily="49" charset="-122"/>
                <a:cs typeface="JetBrains Mono" pitchFamily="49" charset="-120"/>
              </a:rPr>
              <a:t>05</a:t>
            </a:r>
            <a:endParaRPr lang="en-US" sz="1500" dirty="0"/>
          </a:p>
        </p:txBody>
      </p:sp>
      <p:sp>
        <p:nvSpPr>
          <p:cNvPr id="20" name="Text 18"/>
          <p:cNvSpPr/>
          <p:nvPr/>
        </p:nvSpPr>
        <p:spPr>
          <a:xfrm>
            <a:off x="1473200" y="4670109"/>
            <a:ext cx="1020318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D0D0D"/>
                </a:solidFill>
                <a:latin typeface="Manrope" pitchFamily="34" charset="0"/>
                <a:ea typeface="Manrope" pitchFamily="34" charset="-122"/>
                <a:cs typeface="Manrope" pitchFamily="34" charset="-120"/>
              </a:rPr>
              <a:t>Апробация: проверка гипотез на огрублённых запросах в сравнении с генерацией по исходному промпту и агентом на истории промптов</a:t>
            </a:r>
            <a:endParaRPr lang="en-US" sz="1500" dirty="0"/>
          </a:p>
        </p:txBody>
      </p:sp>
      <p:sp>
        <p:nvSpPr>
          <p:cNvPr id="21" name="Text 19"/>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Гоцуляк Т. С. · ВКР · МАИ, 2026</a:t>
            </a:r>
            <a:endParaRPr lang="en-US" sz="1200" dirty="0"/>
          </a:p>
        </p:txBody>
      </p:sp>
      <p:sp>
        <p:nvSpPr>
          <p:cNvPr id="22" name="Text 20"/>
          <p:cNvSpPr/>
          <p:nvPr/>
        </p:nvSpPr>
        <p:spPr>
          <a:xfrm>
            <a:off x="9417050" y="6238239"/>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E80"/>
                </a:solidFill>
                <a:latin typeface="JetBrains Mono" pitchFamily="49" charset="0"/>
                <a:ea typeface="JetBrains Mono" pitchFamily="49" charset="-122"/>
                <a:cs typeface="JetBrains Mono" pitchFamily="49" charset="-120"/>
              </a:rPr>
              <a:t>00:00:05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i="0" spc="-50" kern="0" dirty="0">
                <a:solidFill>
                  <a:srgbClr val="0D0D0D"/>
                </a:solidFill>
                <a:latin typeface="Manrope" pitchFamily="34" charset="0"/>
                <a:ea typeface="Manrope" pitchFamily="34" charset="-122"/>
                <a:cs typeface="Manrope" pitchFamily="34" charset="-120"/>
              </a:rPr>
              <a:t>Объект и предмет исследования</a:t>
            </a:r>
            <a:endParaRPr lang="en-US" sz="3600" dirty="0"/>
          </a:p>
        </p:txBody>
      </p:sp>
      <p:sp>
        <p:nvSpPr>
          <p:cNvPr id="3" name="Shape 1"/>
          <p:cNvSpPr/>
          <p:nvPr/>
        </p:nvSpPr>
        <p:spPr>
          <a:xfrm>
            <a:off x="812800" y="1722438"/>
            <a:ext cx="5080000" cy="0"/>
          </a:xfrm>
          <a:prstGeom prst="line">
            <a:avLst/>
          </a:prstGeom>
          <a:noFill/>
          <a:ln w="19050">
            <a:solidFill>
              <a:srgbClr val="0D0D0D"/>
            </a:solidFill>
            <a:prstDash val="solid"/>
          </a:ln>
        </p:spPr>
      </p:sp>
      <p:sp>
        <p:nvSpPr>
          <p:cNvPr id="4" name="Text 2"/>
          <p:cNvSpPr/>
          <p:nvPr/>
        </p:nvSpPr>
        <p:spPr>
          <a:xfrm>
            <a:off x="812800" y="190595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Объект</a:t>
            </a:r>
            <a:endParaRPr lang="en-US" sz="1200" dirty="0"/>
          </a:p>
        </p:txBody>
      </p:sp>
      <p:sp>
        <p:nvSpPr>
          <p:cNvPr id="5" name="Text 3"/>
          <p:cNvSpPr/>
          <p:nvPr/>
        </p:nvSpPr>
        <p:spPr>
          <a:xfrm>
            <a:off x="812800" y="2246313"/>
            <a:ext cx="5232400" cy="98552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0D0D0D"/>
                </a:solidFill>
                <a:latin typeface="Manrope" pitchFamily="34" charset="0"/>
                <a:ea typeface="Manrope" pitchFamily="34" charset="-122"/>
                <a:cs typeface="Manrope" pitchFamily="34" charset="-120"/>
              </a:rPr>
              <a:t>Процесс генерации видео по запросу пользователя на открытых генеративных моделях и ограниченных GPU-ресурсах</a:t>
            </a:r>
            <a:endParaRPr lang="en-US" sz="1800" dirty="0"/>
          </a:p>
        </p:txBody>
      </p:sp>
      <p:sp>
        <p:nvSpPr>
          <p:cNvPr id="6" name="Shape 4"/>
          <p:cNvSpPr/>
          <p:nvPr/>
        </p:nvSpPr>
        <p:spPr>
          <a:xfrm>
            <a:off x="6299200" y="1722438"/>
            <a:ext cx="5080000" cy="0"/>
          </a:xfrm>
          <a:prstGeom prst="line">
            <a:avLst/>
          </a:prstGeom>
          <a:noFill/>
          <a:ln w="19050">
            <a:solidFill>
              <a:srgbClr val="0D0D0D"/>
            </a:solidFill>
            <a:prstDash val="solid"/>
          </a:ln>
        </p:spPr>
      </p:sp>
      <p:sp>
        <p:nvSpPr>
          <p:cNvPr id="7" name="Text 5"/>
          <p:cNvSpPr/>
          <p:nvPr/>
        </p:nvSpPr>
        <p:spPr>
          <a:xfrm>
            <a:off x="6299200" y="190595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Предмет</a:t>
            </a:r>
            <a:endParaRPr lang="en-US" sz="1200" dirty="0"/>
          </a:p>
        </p:txBody>
      </p:sp>
      <p:sp>
        <p:nvSpPr>
          <p:cNvPr id="8" name="Text 6"/>
          <p:cNvSpPr/>
          <p:nvPr/>
        </p:nvSpPr>
        <p:spPr>
          <a:xfrm>
            <a:off x="6299200" y="2246313"/>
            <a:ext cx="5232400" cy="13055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0D0D0D"/>
                </a:solidFill>
                <a:latin typeface="Manrope" pitchFamily="34" charset="0"/>
                <a:ea typeface="Manrope" pitchFamily="34" charset="-122"/>
                <a:cs typeface="Manrope" pitchFamily="34" charset="-120"/>
              </a:rPr>
              <a:t>Методы снижения стоимости попытки и алгоритмы понимания замысла и подбора параметров генерации, сокращающие число попыток до принятого ролика</a:t>
            </a:r>
            <a:endParaRPr lang="en-US" sz="1800" dirty="0"/>
          </a:p>
        </p:txBody>
      </p:sp>
      <p:sp>
        <p:nvSpPr>
          <p:cNvPr id="9" name="Text 7"/>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Гоцуляк Т. С. · ВКР · МАИ, 2026</a:t>
            </a:r>
            <a:endParaRPr lang="en-US" sz="1200" dirty="0"/>
          </a:p>
        </p:txBody>
      </p:sp>
      <p:sp>
        <p:nvSpPr>
          <p:cNvPr id="10" name="Text 8"/>
          <p:cNvSpPr/>
          <p:nvPr/>
        </p:nvSpPr>
        <p:spPr>
          <a:xfrm>
            <a:off x="9417050" y="6238239"/>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E80"/>
                </a:solidFill>
                <a:latin typeface="JetBrains Mono" pitchFamily="49" charset="0"/>
                <a:ea typeface="JetBrains Mono" pitchFamily="49" charset="-122"/>
                <a:cs typeface="JetBrains Mono" pitchFamily="49" charset="-120"/>
              </a:rPr>
              <a:t>00:00:06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i="0" spc="-50" kern="0" dirty="0">
                <a:solidFill>
                  <a:srgbClr val="0D0D0D"/>
                </a:solidFill>
                <a:latin typeface="Manrope" pitchFamily="34" charset="0"/>
                <a:ea typeface="Manrope" pitchFamily="34" charset="-122"/>
                <a:cs typeface="Manrope" pitchFamily="34" charset="-120"/>
              </a:rPr>
              <a:t>Схема решения</a:t>
            </a:r>
            <a:endParaRPr lang="en-US" sz="3600" dirty="0"/>
          </a:p>
        </p:txBody>
      </p:sp>
      <p:sp>
        <p:nvSpPr>
          <p:cNvPr id="3" name="Text 1"/>
          <p:cNvSpPr/>
          <p:nvPr/>
        </p:nvSpPr>
        <p:spPr>
          <a:xfrm>
            <a:off x="812800" y="1382713"/>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E6E80"/>
                </a:solidFill>
                <a:latin typeface="Manrope" pitchFamily="34" charset="0"/>
                <a:ea typeface="Manrope" pitchFamily="34" charset="-122"/>
                <a:cs typeface="Manrope" pitchFamily="34" charset="-120"/>
              </a:rPr>
              <a:t>Предварительная, уточняется по итогам обзора</a:t>
            </a:r>
            <a:endParaRPr lang="en-US" sz="1300" dirty="0"/>
          </a:p>
        </p:txBody>
      </p:sp>
      <p:sp>
        <p:nvSpPr>
          <p:cNvPr id="4" name="Text 2"/>
          <p:cNvSpPr/>
          <p:nvPr/>
        </p:nvSpPr>
        <p:spPr>
          <a:xfrm>
            <a:off x="812800" y="184245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JetBrains Mono" pitchFamily="49" charset="0"/>
                <a:ea typeface="JetBrains Mono" pitchFamily="49" charset="-122"/>
                <a:cs typeface="JetBrains Mono" pitchFamily="49" charset="-120"/>
              </a:rPr>
              <a:t>агентный уровень · снижает число попыток</a:t>
            </a:r>
            <a:endParaRPr lang="en-US" sz="1200" dirty="0"/>
          </a:p>
        </p:txBody>
      </p:sp>
      <p:sp>
        <p:nvSpPr>
          <p:cNvPr id="5" name="Shape 3"/>
          <p:cNvSpPr/>
          <p:nvPr/>
        </p:nvSpPr>
        <p:spPr>
          <a:xfrm>
            <a:off x="819150" y="2151063"/>
            <a:ext cx="1779508" cy="1122680"/>
          </a:xfrm>
          <a:prstGeom prst="roundRect">
            <a:avLst>
              <a:gd name="adj" fmla="val 5090"/>
            </a:avLst>
          </a:prstGeom>
          <a:noFill/>
          <a:ln w="12700">
            <a:solidFill>
              <a:srgbClr val="0D0D0D"/>
            </a:solidFill>
            <a:prstDash val="solid"/>
          </a:ln>
        </p:spPr>
      </p:sp>
      <p:sp>
        <p:nvSpPr>
          <p:cNvPr id="6" name="Text 4"/>
          <p:cNvSpPr/>
          <p:nvPr/>
        </p:nvSpPr>
        <p:spPr>
          <a:xfrm>
            <a:off x="962660" y="2269173"/>
            <a:ext cx="1543288" cy="434340"/>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D0D0D"/>
                </a:solidFill>
                <a:latin typeface="Manrope" pitchFamily="34" charset="0"/>
                <a:ea typeface="Manrope" pitchFamily="34" charset="-122"/>
                <a:cs typeface="Manrope" pitchFamily="34" charset="-120"/>
              </a:rPr>
              <a:t>Понимание замысла</a:t>
            </a:r>
            <a:endParaRPr lang="en-US" sz="1400" dirty="0"/>
          </a:p>
        </p:txBody>
      </p:sp>
      <p:sp>
        <p:nvSpPr>
          <p:cNvPr id="7" name="Text 5"/>
          <p:cNvSpPr/>
          <p:nvPr/>
        </p:nvSpPr>
        <p:spPr>
          <a:xfrm>
            <a:off x="962660" y="2728913"/>
            <a:ext cx="16296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из краткого запроса</a:t>
            </a:r>
            <a:endParaRPr lang="en-US" sz="1200" dirty="0"/>
          </a:p>
        </p:txBody>
      </p:sp>
      <p:pic>
        <p:nvPicPr>
          <p:cNvPr id="8" name="Image 0" descr="arrow-right">    </p:cNvPr>
          <p:cNvPicPr>
            <a:picLocks noChangeAspect="1"/>
          </p:cNvPicPr>
          <p:nvPr/>
        </p:nvPicPr>
        <p:blipFill>
          <a:blip r:embed="rId1"/>
          <a:srcRect l="0" r="0" t="0" b="0"/>
          <a:stretch/>
        </p:blipFill>
        <p:spPr>
          <a:xfrm>
            <a:off x="2681208" y="2642552"/>
            <a:ext cx="254000" cy="139700"/>
          </a:xfrm>
          <a:prstGeom prst="rect">
            <a:avLst/>
          </a:prstGeom>
        </p:spPr>
      </p:pic>
      <p:sp>
        <p:nvSpPr>
          <p:cNvPr id="9" name="Shape 6"/>
          <p:cNvSpPr/>
          <p:nvPr/>
        </p:nvSpPr>
        <p:spPr>
          <a:xfrm>
            <a:off x="3011408" y="2144713"/>
            <a:ext cx="1771968" cy="1135380"/>
          </a:xfrm>
          <a:prstGeom prst="roundRect">
            <a:avLst>
              <a:gd name="adj" fmla="val 5593"/>
            </a:avLst>
          </a:prstGeom>
          <a:solidFill>
            <a:srgbClr val="0D0D0D"/>
          </a:solidFill>
          <a:ln/>
        </p:spPr>
      </p:sp>
      <p:sp>
        <p:nvSpPr>
          <p:cNvPr id="10" name="Text 7"/>
          <p:cNvSpPr/>
          <p:nvPr/>
        </p:nvSpPr>
        <p:spPr>
          <a:xfrm>
            <a:off x="3151108" y="2259013"/>
            <a:ext cx="1632268" cy="229870"/>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FFFFF"/>
                </a:solidFill>
                <a:latin typeface="Manrope" pitchFamily="34" charset="0"/>
                <a:ea typeface="Manrope" pitchFamily="34" charset="-122"/>
                <a:cs typeface="Manrope" pitchFamily="34" charset="-120"/>
              </a:rPr>
              <a:t>Модель замысла</a:t>
            </a:r>
            <a:endParaRPr lang="en-US" sz="1400" dirty="0"/>
          </a:p>
        </p:txBody>
      </p:sp>
      <p:sp>
        <p:nvSpPr>
          <p:cNvPr id="11" name="Text 8"/>
          <p:cNvSpPr/>
          <p:nvPr/>
        </p:nvSpPr>
        <p:spPr>
          <a:xfrm>
            <a:off x="3151108" y="2514284"/>
            <a:ext cx="154336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FD6"/>
                </a:solidFill>
                <a:latin typeface="Manrope" pitchFamily="34" charset="0"/>
                <a:ea typeface="Manrope" pitchFamily="34" charset="-122"/>
                <a:cs typeface="Manrope" pitchFamily="34" charset="-120"/>
              </a:rPr>
              <a:t>сцены, персонажи, решения, правила</a:t>
            </a:r>
            <a:endParaRPr lang="en-US" sz="1200" dirty="0"/>
          </a:p>
        </p:txBody>
      </p:sp>
      <p:pic>
        <p:nvPicPr>
          <p:cNvPr id="12" name="Image 1" descr="arrow-right">    </p:cNvPr>
          <p:cNvPicPr>
            <a:picLocks noChangeAspect="1"/>
          </p:cNvPicPr>
          <p:nvPr/>
        </p:nvPicPr>
        <p:blipFill>
          <a:blip r:embed="rId2"/>
          <a:srcRect l="0" r="0" t="0" b="0"/>
          <a:stretch/>
        </p:blipFill>
        <p:spPr>
          <a:xfrm>
            <a:off x="4859576" y="2642552"/>
            <a:ext cx="254000" cy="139700"/>
          </a:xfrm>
          <a:prstGeom prst="rect">
            <a:avLst/>
          </a:prstGeom>
        </p:spPr>
      </p:pic>
      <p:sp>
        <p:nvSpPr>
          <p:cNvPr id="13" name="Shape 9"/>
          <p:cNvSpPr/>
          <p:nvPr/>
        </p:nvSpPr>
        <p:spPr>
          <a:xfrm>
            <a:off x="5196126" y="2151063"/>
            <a:ext cx="1779508" cy="1122680"/>
          </a:xfrm>
          <a:prstGeom prst="roundRect">
            <a:avLst>
              <a:gd name="adj" fmla="val 5090"/>
            </a:avLst>
          </a:prstGeom>
          <a:noFill/>
          <a:ln w="12700">
            <a:solidFill>
              <a:srgbClr val="0D0D0D"/>
            </a:solidFill>
            <a:prstDash val="solid"/>
          </a:ln>
        </p:spPr>
      </p:sp>
      <p:sp>
        <p:nvSpPr>
          <p:cNvPr id="14" name="Text 10"/>
          <p:cNvSpPr/>
          <p:nvPr/>
        </p:nvSpPr>
        <p:spPr>
          <a:xfrm>
            <a:off x="5339636" y="2269173"/>
            <a:ext cx="1543288" cy="434340"/>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D0D0D"/>
                </a:solidFill>
                <a:latin typeface="Manrope" pitchFamily="34" charset="0"/>
                <a:ea typeface="Manrope" pitchFamily="34" charset="-122"/>
                <a:cs typeface="Manrope" pitchFamily="34" charset="-120"/>
              </a:rPr>
              <a:t>Промпт и параметры</a:t>
            </a:r>
            <a:endParaRPr lang="en-US" sz="1400" dirty="0"/>
          </a:p>
        </p:txBody>
      </p:sp>
      <p:sp>
        <p:nvSpPr>
          <p:cNvPr id="15" name="Text 11"/>
          <p:cNvSpPr/>
          <p:nvPr/>
        </p:nvSpPr>
        <p:spPr>
          <a:xfrm>
            <a:off x="5339636" y="2728913"/>
            <a:ext cx="154328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сэмплер, guidance, LoRA, референсы</a:t>
            </a:r>
            <a:endParaRPr lang="en-US" sz="1200" dirty="0"/>
          </a:p>
        </p:txBody>
      </p:sp>
      <p:pic>
        <p:nvPicPr>
          <p:cNvPr id="16" name="Image 2" descr="arrow-right">    </p:cNvPr>
          <p:cNvPicPr>
            <a:picLocks noChangeAspect="1"/>
          </p:cNvPicPr>
          <p:nvPr/>
        </p:nvPicPr>
        <p:blipFill>
          <a:blip r:embed="rId3"/>
          <a:srcRect l="0" r="0" t="0" b="0"/>
          <a:stretch/>
        </p:blipFill>
        <p:spPr>
          <a:xfrm>
            <a:off x="7058184" y="2642552"/>
            <a:ext cx="254000" cy="139700"/>
          </a:xfrm>
          <a:prstGeom prst="rect">
            <a:avLst/>
          </a:prstGeom>
        </p:spPr>
      </p:pic>
      <p:sp>
        <p:nvSpPr>
          <p:cNvPr id="17" name="Shape 12"/>
          <p:cNvSpPr/>
          <p:nvPr/>
        </p:nvSpPr>
        <p:spPr>
          <a:xfrm>
            <a:off x="7394734" y="2151063"/>
            <a:ext cx="1779508" cy="1122680"/>
          </a:xfrm>
          <a:prstGeom prst="roundRect">
            <a:avLst>
              <a:gd name="adj" fmla="val 5090"/>
            </a:avLst>
          </a:prstGeom>
          <a:noFill/>
          <a:ln w="12700">
            <a:solidFill>
              <a:srgbClr val="0D0D0D"/>
            </a:solidFill>
            <a:prstDash val="solid"/>
          </a:ln>
        </p:spPr>
      </p:sp>
      <p:sp>
        <p:nvSpPr>
          <p:cNvPr id="18" name="Text 13"/>
          <p:cNvSpPr/>
          <p:nvPr/>
        </p:nvSpPr>
        <p:spPr>
          <a:xfrm>
            <a:off x="7538244" y="2269173"/>
            <a:ext cx="1543288" cy="229870"/>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D0D0D"/>
                </a:solidFill>
                <a:latin typeface="Manrope" pitchFamily="34" charset="0"/>
                <a:ea typeface="Manrope" pitchFamily="34" charset="-122"/>
                <a:cs typeface="Manrope" pitchFamily="34" charset="-120"/>
              </a:rPr>
              <a:t>Генерация</a:t>
            </a:r>
            <a:endParaRPr lang="en-US" sz="1400" dirty="0"/>
          </a:p>
        </p:txBody>
      </p:sp>
      <p:sp>
        <p:nvSpPr>
          <p:cNvPr id="19" name="Text 14"/>
          <p:cNvSpPr/>
          <p:nvPr/>
        </p:nvSpPr>
        <p:spPr>
          <a:xfrm>
            <a:off x="7538244" y="2524444"/>
            <a:ext cx="15432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на уровне запуска</a:t>
            </a:r>
            <a:endParaRPr lang="en-US" sz="1200" dirty="0"/>
          </a:p>
        </p:txBody>
      </p:sp>
      <p:pic>
        <p:nvPicPr>
          <p:cNvPr id="20" name="Image 3" descr="arrow-right">    </p:cNvPr>
          <p:cNvPicPr>
            <a:picLocks noChangeAspect="1"/>
          </p:cNvPicPr>
          <p:nvPr/>
        </p:nvPicPr>
        <p:blipFill>
          <a:blip r:embed="rId4"/>
          <a:srcRect l="0" r="0" t="0" b="0"/>
          <a:stretch/>
        </p:blipFill>
        <p:spPr>
          <a:xfrm>
            <a:off x="9256792" y="2642552"/>
            <a:ext cx="254000" cy="139700"/>
          </a:xfrm>
          <a:prstGeom prst="rect">
            <a:avLst/>
          </a:prstGeom>
        </p:spPr>
      </p:pic>
      <p:sp>
        <p:nvSpPr>
          <p:cNvPr id="21" name="Shape 15"/>
          <p:cNvSpPr/>
          <p:nvPr/>
        </p:nvSpPr>
        <p:spPr>
          <a:xfrm>
            <a:off x="9593342" y="2151063"/>
            <a:ext cx="1779508" cy="1122680"/>
          </a:xfrm>
          <a:prstGeom prst="roundRect">
            <a:avLst>
              <a:gd name="adj" fmla="val 5090"/>
            </a:avLst>
          </a:prstGeom>
          <a:noFill/>
          <a:ln w="12700">
            <a:solidFill>
              <a:srgbClr val="0D0D0D"/>
            </a:solidFill>
            <a:prstDash val="solid"/>
          </a:ln>
        </p:spPr>
      </p:sp>
      <p:sp>
        <p:nvSpPr>
          <p:cNvPr id="22" name="Text 16"/>
          <p:cNvSpPr/>
          <p:nvPr/>
        </p:nvSpPr>
        <p:spPr>
          <a:xfrm>
            <a:off x="9736852" y="2269173"/>
            <a:ext cx="1543288" cy="434340"/>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D0D0D"/>
                </a:solidFill>
                <a:latin typeface="Manrope" pitchFamily="34" charset="0"/>
                <a:ea typeface="Manrope" pitchFamily="34" charset="-122"/>
                <a:cs typeface="Manrope" pitchFamily="34" charset="-120"/>
              </a:rPr>
              <a:t>Замечания пользователя</a:t>
            </a:r>
            <a:endParaRPr lang="en-US" sz="1400" dirty="0"/>
          </a:p>
        </p:txBody>
      </p:sp>
      <p:sp>
        <p:nvSpPr>
          <p:cNvPr id="23" name="Text 17"/>
          <p:cNvSpPr/>
          <p:nvPr/>
        </p:nvSpPr>
        <p:spPr>
          <a:xfrm>
            <a:off x="9736852" y="2728913"/>
            <a:ext cx="154328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уточняют модель замысла</a:t>
            </a:r>
            <a:endParaRPr lang="en-US" sz="1200" dirty="0"/>
          </a:p>
        </p:txBody>
      </p:sp>
      <p:sp>
        <p:nvSpPr>
          <p:cNvPr id="24" name="Text 18"/>
          <p:cNvSpPr/>
          <p:nvPr/>
        </p:nvSpPr>
        <p:spPr>
          <a:xfrm>
            <a:off x="812800" y="3368994"/>
            <a:ext cx="10566400" cy="434340"/>
          </a:xfrm>
          <a:prstGeom prst="roundRect">
            <a:avLst>
              <a:gd name="adj" fmla="val 14620"/>
            </a:avLst>
          </a:prstGeom>
          <a:solidFill>
            <a:srgbClr val="F4F4F4"/>
          </a:solidFill>
          <a:ln/>
        </p:spPr>
        <p:txBody>
          <a:bodyPr wrap="square" lIns="133801" tIns="83001" rIns="0" bIns="57601" rtlCol="0" anchor="t">
            <a:normAutofit/>
          </a:bodyPr>
          <a:lstStyle/>
          <a:p>
            <a:pPr algn="l" indent="0" marL="0">
              <a:lnSpc>
                <a:spcPts val="1820"/>
              </a:lnSpc>
              <a:buNone/>
            </a:pPr>
            <a:r>
              <a:rPr lang="en-US" sz="1300" b="1" dirty="0">
                <a:solidFill>
                  <a:srgbClr val="0D0D0D"/>
                </a:solidFill>
                <a:latin typeface="Manrope" pitchFamily="34" charset="0"/>
                <a:ea typeface="Manrope" pitchFamily="34" charset="-122"/>
                <a:cs typeface="Manrope" pitchFamily="34" charset="-120"/>
              </a:rPr>
              <a:t>Цикл правки:</a:t>
            </a:r>
            <a:r>
              <a:rPr lang="en-US" sz="1300" dirty="0">
                <a:solidFill>
                  <a:srgbClr val="0D0D0D"/>
                </a:solidFill>
                <a:latin typeface="Manrope" pitchFamily="34" charset="0"/>
                <a:ea typeface="Manrope" pitchFamily="34" charset="-122"/>
                <a:cs typeface="Manrope" pitchFamily="34" charset="-120"/>
              </a:rPr>
              <a:t> замечание уточняет модель замысла, а не промпт, поэтому принятое не ломается</a:t>
            </a:r>
            <a:endParaRPr lang="en-US" sz="1300" dirty="0"/>
          </a:p>
        </p:txBody>
      </p:sp>
      <p:sp>
        <p:nvSpPr>
          <p:cNvPr id="25" name="Text 19"/>
          <p:cNvSpPr/>
          <p:nvPr/>
        </p:nvSpPr>
        <p:spPr>
          <a:xfrm>
            <a:off x="812800" y="4031934"/>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JetBrains Mono" pitchFamily="49" charset="0"/>
                <a:ea typeface="JetBrains Mono" pitchFamily="49" charset="-122"/>
                <a:cs typeface="JetBrains Mono" pitchFamily="49" charset="-120"/>
              </a:rPr>
              <a:t>уровень запуска · снижает стоимость попытки</a:t>
            </a:r>
            <a:endParaRPr lang="en-US" sz="1200" dirty="0"/>
          </a:p>
        </p:txBody>
      </p:sp>
      <p:sp>
        <p:nvSpPr>
          <p:cNvPr id="26" name="Text 20"/>
          <p:cNvSpPr/>
          <p:nvPr/>
        </p:nvSpPr>
        <p:spPr>
          <a:xfrm>
            <a:off x="812800" y="4334194"/>
            <a:ext cx="2052320" cy="690880"/>
          </a:xfrm>
          <a:prstGeom prst="roundRect">
            <a:avLst>
              <a:gd name="adj" fmla="val 9191"/>
            </a:avLst>
          </a:prstGeom>
          <a:solidFill>
            <a:srgbClr val="F4F4F4"/>
          </a:solidFill>
          <a:ln/>
        </p:spPr>
        <p:txBody>
          <a:bodyPr wrap="square" lIns="121101" tIns="95701" rIns="67914" bIns="95701" rtlCol="0" anchor="t">
            <a:normAutofit/>
          </a:bodyPr>
          <a:lstStyle/>
          <a:p>
            <a:pPr algn="l" indent="0" marL="0">
              <a:lnSpc>
                <a:spcPts val="1820"/>
              </a:lnSpc>
              <a:buNone/>
            </a:pPr>
            <a:r>
              <a:rPr lang="en-US" sz="1300" b="1" dirty="0">
                <a:solidFill>
                  <a:srgbClr val="0D0D0D"/>
                </a:solidFill>
                <a:latin typeface="Manrope" pitchFamily="34" charset="0"/>
                <a:ea typeface="Manrope" pitchFamily="34" charset="-122"/>
                <a:cs typeface="Manrope" pitchFamily="34" charset="-120"/>
              </a:rPr>
              <a:t>Квантизация</a:t>
            </a:r>
            <a:endParaRPr lang="en-US" sz="1300" dirty="0"/>
          </a:p>
        </p:txBody>
      </p:sp>
      <p:sp>
        <p:nvSpPr>
          <p:cNvPr id="27" name="Text 21"/>
          <p:cNvSpPr/>
          <p:nvPr/>
        </p:nvSpPr>
        <p:spPr>
          <a:xfrm>
            <a:off x="2941320" y="4334194"/>
            <a:ext cx="2052320" cy="690880"/>
          </a:xfrm>
          <a:prstGeom prst="roundRect">
            <a:avLst>
              <a:gd name="adj" fmla="val 9191"/>
            </a:avLst>
          </a:prstGeom>
          <a:solidFill>
            <a:srgbClr val="F4F4F4"/>
          </a:solidFill>
          <a:ln/>
        </p:spPr>
        <p:txBody>
          <a:bodyPr wrap="square" lIns="121101" tIns="95701" rIns="67914" bIns="95701" rtlCol="0" anchor="t">
            <a:normAutofit/>
          </a:bodyPr>
          <a:lstStyle/>
          <a:p>
            <a:pPr algn="l" indent="0" marL="0">
              <a:lnSpc>
                <a:spcPts val="1820"/>
              </a:lnSpc>
              <a:buNone/>
            </a:pPr>
            <a:r>
              <a:rPr lang="en-US" sz="1300" b="1" dirty="0">
                <a:solidFill>
                  <a:srgbClr val="0D0D0D"/>
                </a:solidFill>
                <a:latin typeface="Manrope" pitchFamily="34" charset="0"/>
                <a:ea typeface="Manrope" pitchFamily="34" charset="-122"/>
                <a:cs typeface="Manrope" pitchFamily="34" charset="-120"/>
              </a:rPr>
              <a:t>Выгрузка в RAM</a:t>
            </a:r>
            <a:endParaRPr lang="en-US" sz="1300" dirty="0"/>
          </a:p>
        </p:txBody>
      </p:sp>
      <p:sp>
        <p:nvSpPr>
          <p:cNvPr id="28" name="Text 22"/>
          <p:cNvSpPr/>
          <p:nvPr/>
        </p:nvSpPr>
        <p:spPr>
          <a:xfrm>
            <a:off x="5069840" y="4334194"/>
            <a:ext cx="2052320" cy="690880"/>
          </a:xfrm>
          <a:prstGeom prst="roundRect">
            <a:avLst>
              <a:gd name="adj" fmla="val 9191"/>
            </a:avLst>
          </a:prstGeom>
          <a:solidFill>
            <a:srgbClr val="F4F4F4"/>
          </a:solidFill>
          <a:ln/>
        </p:spPr>
        <p:txBody>
          <a:bodyPr wrap="square" lIns="121101" tIns="95701" rIns="67914" bIns="95701" rtlCol="0" anchor="t">
            <a:normAutofit/>
          </a:bodyPr>
          <a:lstStyle/>
          <a:p>
            <a:pPr algn="l" indent="0" marL="0">
              <a:lnSpc>
                <a:spcPts val="1820"/>
              </a:lnSpc>
              <a:buNone/>
            </a:pPr>
            <a:r>
              <a:rPr lang="en-US" sz="1300" b="1" dirty="0">
                <a:solidFill>
                  <a:srgbClr val="0D0D0D"/>
                </a:solidFill>
                <a:latin typeface="Manrope" pitchFamily="34" charset="0"/>
                <a:ea typeface="Manrope" pitchFamily="34" charset="-122"/>
                <a:cs typeface="Manrope" pitchFamily="34" charset="-120"/>
              </a:rPr>
              <a:t>Меньше шагов</a:t>
            </a:r>
            <a:endParaRPr lang="en-US" sz="1300" dirty="0"/>
          </a:p>
        </p:txBody>
      </p:sp>
      <p:sp>
        <p:nvSpPr>
          <p:cNvPr id="29" name="Text 23"/>
          <p:cNvSpPr/>
          <p:nvPr/>
        </p:nvSpPr>
        <p:spPr>
          <a:xfrm>
            <a:off x="7198360" y="4334194"/>
            <a:ext cx="2052320" cy="690880"/>
          </a:xfrm>
          <a:prstGeom prst="roundRect">
            <a:avLst>
              <a:gd name="adj" fmla="val 9191"/>
            </a:avLst>
          </a:prstGeom>
          <a:solidFill>
            <a:srgbClr val="F4F4F4"/>
          </a:solidFill>
          <a:ln/>
        </p:spPr>
        <p:txBody>
          <a:bodyPr wrap="square" lIns="121101" tIns="95701" rIns="67914" bIns="95701" rtlCol="0" anchor="t">
            <a:normAutofit/>
          </a:bodyPr>
          <a:lstStyle/>
          <a:p>
            <a:pPr algn="l" indent="0" marL="0">
              <a:lnSpc>
                <a:spcPts val="1820"/>
              </a:lnSpc>
              <a:buNone/>
            </a:pPr>
            <a:r>
              <a:rPr lang="en-US" sz="1300" b="1" dirty="0">
                <a:solidFill>
                  <a:srgbClr val="0D0D0D"/>
                </a:solidFill>
                <a:latin typeface="Manrope" pitchFamily="34" charset="0"/>
                <a:ea typeface="Manrope" pitchFamily="34" charset="-122"/>
                <a:cs typeface="Manrope" pitchFamily="34" charset="-120"/>
              </a:rPr>
              <a:t>Черновой режим</a:t>
            </a:r>
            <a:endParaRPr lang="en-US" sz="1300" dirty="0"/>
          </a:p>
        </p:txBody>
      </p:sp>
      <p:sp>
        <p:nvSpPr>
          <p:cNvPr id="30" name="Text 24"/>
          <p:cNvSpPr/>
          <p:nvPr/>
        </p:nvSpPr>
        <p:spPr>
          <a:xfrm>
            <a:off x="9326880" y="4334194"/>
            <a:ext cx="2052320" cy="690880"/>
          </a:xfrm>
          <a:prstGeom prst="roundRect">
            <a:avLst>
              <a:gd name="adj" fmla="val 9191"/>
            </a:avLst>
          </a:prstGeom>
          <a:solidFill>
            <a:srgbClr val="F4F4F4"/>
          </a:solidFill>
          <a:ln/>
        </p:spPr>
        <p:txBody>
          <a:bodyPr wrap="square" lIns="121101" tIns="95701" rIns="67914" bIns="70301" rtlCol="0" anchor="t">
            <a:normAutofit/>
          </a:bodyPr>
          <a:lstStyle/>
          <a:p>
            <a:pPr algn="l" indent="0" marL="0">
              <a:lnSpc>
                <a:spcPts val="1820"/>
              </a:lnSpc>
              <a:buNone/>
            </a:pPr>
            <a:r>
              <a:rPr lang="en-US" sz="1300" b="1" dirty="0">
                <a:solidFill>
                  <a:srgbClr val="0D0D0D"/>
                </a:solidFill>
                <a:latin typeface="Manrope" pitchFamily="34" charset="0"/>
                <a:ea typeface="Manrope" pitchFamily="34" charset="-122"/>
                <a:cs typeface="Manrope" pitchFamily="34" charset="-120"/>
              </a:rPr>
              <a:t>Распределение по картам</a:t>
            </a:r>
            <a:endParaRPr lang="en-US" sz="1300" dirty="0"/>
          </a:p>
        </p:txBody>
      </p:sp>
      <p:sp>
        <p:nvSpPr>
          <p:cNvPr id="31" name="Text 25"/>
          <p:cNvSpPr/>
          <p:nvPr/>
        </p:nvSpPr>
        <p:spPr>
          <a:xfrm>
            <a:off x="812800" y="5113973"/>
            <a:ext cx="10566400" cy="459740"/>
          </a:xfrm>
          <a:prstGeom prst="roundRect">
            <a:avLst>
              <a:gd name="adj" fmla="val 13812"/>
            </a:avLst>
          </a:prstGeom>
          <a:solidFill>
            <a:srgbClr val="0D0D0D"/>
          </a:solidFill>
          <a:ln/>
        </p:spPr>
        <p:txBody>
          <a:bodyPr wrap="square" lIns="133801" tIns="95701" rIns="0" bIns="70301" rtlCol="0" anchor="t">
            <a:normAutofit/>
          </a:bodyPr>
          <a:lstStyle/>
          <a:p>
            <a:pPr algn="l" indent="0" marL="0">
              <a:lnSpc>
                <a:spcPts val="1820"/>
              </a:lnSpc>
              <a:buNone/>
            </a:pPr>
            <a:r>
              <a:rPr lang="en-US" sz="1300" dirty="0">
                <a:solidFill>
                  <a:srgbClr val="FFFFFF"/>
                </a:solidFill>
                <a:latin typeface="Manrope" pitchFamily="34" charset="0"/>
                <a:ea typeface="Manrope" pitchFamily="34" charset="-122"/>
                <a:cs typeface="Manrope" pitchFamily="34" charset="-120"/>
              </a:rPr>
              <a:t>Арендуемые потребительские GPU · число карт меняется по нагрузке</a:t>
            </a:r>
            <a:endParaRPr lang="en-US" sz="1300" dirty="0"/>
          </a:p>
        </p:txBody>
      </p:sp>
      <p:sp>
        <p:nvSpPr>
          <p:cNvPr id="32" name="Text 26"/>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Гоцуляк Т. С. · ВКР · МАИ, 2026</a:t>
            </a:r>
            <a:endParaRPr lang="en-US" sz="1200" dirty="0"/>
          </a:p>
        </p:txBody>
      </p:sp>
      <p:sp>
        <p:nvSpPr>
          <p:cNvPr id="33" name="Text 27"/>
          <p:cNvSpPr/>
          <p:nvPr/>
        </p:nvSpPr>
        <p:spPr>
          <a:xfrm>
            <a:off x="9417050" y="6238239"/>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E80"/>
                </a:solidFill>
                <a:latin typeface="JetBrains Mono" pitchFamily="49" charset="0"/>
                <a:ea typeface="JetBrains Mono" pitchFamily="49" charset="-122"/>
                <a:cs typeface="JetBrains Mono" pitchFamily="49" charset="-120"/>
              </a:rPr>
              <a:t>00:00:07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i="0" spc="-50" kern="0" dirty="0">
                <a:solidFill>
                  <a:srgbClr val="0D0D0D"/>
                </a:solidFill>
                <a:latin typeface="Manrope" pitchFamily="34" charset="0"/>
                <a:ea typeface="Manrope" pitchFamily="34" charset="-122"/>
                <a:cs typeface="Manrope" pitchFamily="34" charset="-120"/>
              </a:rPr>
              <a:t>Стек технологий</a:t>
            </a:r>
            <a:endParaRPr lang="en-US" sz="3600" dirty="0"/>
          </a:p>
        </p:txBody>
      </p:sp>
      <p:sp>
        <p:nvSpPr>
          <p:cNvPr id="3" name="Shape 1"/>
          <p:cNvSpPr/>
          <p:nvPr/>
        </p:nvSpPr>
        <p:spPr>
          <a:xfrm>
            <a:off x="812800" y="1563688"/>
            <a:ext cx="10566400" cy="0"/>
          </a:xfrm>
          <a:prstGeom prst="line">
            <a:avLst/>
          </a:prstGeom>
          <a:noFill/>
          <a:ln w="6350">
            <a:solidFill>
              <a:srgbClr val="E5E5E5"/>
            </a:solidFill>
            <a:prstDash val="solid"/>
          </a:ln>
        </p:spPr>
      </p:sp>
      <p:sp>
        <p:nvSpPr>
          <p:cNvPr id="4" name="Text 2"/>
          <p:cNvSpPr/>
          <p:nvPr/>
        </p:nvSpPr>
        <p:spPr>
          <a:xfrm>
            <a:off x="812800" y="1745934"/>
            <a:ext cx="22237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Видеомодели</a:t>
            </a:r>
            <a:endParaRPr lang="en-US" sz="1200" dirty="0"/>
          </a:p>
        </p:txBody>
      </p:sp>
      <p:sp>
        <p:nvSpPr>
          <p:cNvPr id="5" name="Text 3"/>
          <p:cNvSpPr/>
          <p:nvPr/>
        </p:nvSpPr>
        <p:spPr>
          <a:xfrm>
            <a:off x="3225800" y="1705294"/>
            <a:ext cx="839800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D0D0D"/>
                </a:solidFill>
                <a:latin typeface="Manrope" pitchFamily="34" charset="0"/>
                <a:ea typeface="Manrope" pitchFamily="34" charset="-122"/>
                <a:cs typeface="Manrope" pitchFamily="34" charset="-120"/>
              </a:rPr>
              <a:t>Открытые модели генерации видео, выбор по итогам обзора</a:t>
            </a:r>
            <a:endParaRPr lang="en-US" sz="1500" dirty="0"/>
          </a:p>
        </p:txBody>
      </p:sp>
      <p:sp>
        <p:nvSpPr>
          <p:cNvPr id="6" name="Shape 4"/>
          <p:cNvSpPr/>
          <p:nvPr/>
        </p:nvSpPr>
        <p:spPr>
          <a:xfrm>
            <a:off x="812800" y="2114869"/>
            <a:ext cx="10566400" cy="0"/>
          </a:xfrm>
          <a:prstGeom prst="line">
            <a:avLst/>
          </a:prstGeom>
          <a:noFill/>
          <a:ln w="6350">
            <a:solidFill>
              <a:srgbClr val="E5E5E5"/>
            </a:solidFill>
            <a:prstDash val="solid"/>
          </a:ln>
        </p:spPr>
      </p:sp>
      <p:sp>
        <p:nvSpPr>
          <p:cNvPr id="7" name="Text 5"/>
          <p:cNvSpPr/>
          <p:nvPr/>
        </p:nvSpPr>
        <p:spPr>
          <a:xfrm>
            <a:off x="812800" y="2297113"/>
            <a:ext cx="22237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Инструменты</a:t>
            </a:r>
            <a:endParaRPr lang="en-US" sz="1200" dirty="0"/>
          </a:p>
        </p:txBody>
      </p:sp>
      <p:sp>
        <p:nvSpPr>
          <p:cNvPr id="8" name="Text 6"/>
          <p:cNvSpPr/>
          <p:nvPr/>
        </p:nvSpPr>
        <p:spPr>
          <a:xfrm>
            <a:off x="3225800" y="2256473"/>
            <a:ext cx="839800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D0D0D"/>
                </a:solidFill>
                <a:latin typeface="Manrope" pitchFamily="34" charset="0"/>
                <a:ea typeface="Manrope" pitchFamily="34" charset="-122"/>
                <a:cs typeface="Manrope" pitchFamily="34" charset="-120"/>
              </a:rPr>
              <a:t>Python, PyTorch, ComfyUI</a:t>
            </a:r>
            <a:endParaRPr lang="en-US" sz="1500" dirty="0"/>
          </a:p>
        </p:txBody>
      </p:sp>
      <p:sp>
        <p:nvSpPr>
          <p:cNvPr id="9" name="Shape 7"/>
          <p:cNvSpPr/>
          <p:nvPr/>
        </p:nvSpPr>
        <p:spPr>
          <a:xfrm>
            <a:off x="812800" y="2666048"/>
            <a:ext cx="10566400" cy="0"/>
          </a:xfrm>
          <a:prstGeom prst="line">
            <a:avLst/>
          </a:prstGeom>
          <a:noFill/>
          <a:ln w="6350">
            <a:solidFill>
              <a:srgbClr val="E5E5E5"/>
            </a:solidFill>
            <a:prstDash val="solid"/>
          </a:ln>
        </p:spPr>
      </p:sp>
      <p:sp>
        <p:nvSpPr>
          <p:cNvPr id="10" name="Text 8"/>
          <p:cNvSpPr/>
          <p:nvPr/>
        </p:nvSpPr>
        <p:spPr>
          <a:xfrm>
            <a:off x="812800" y="2848294"/>
            <a:ext cx="22237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Уровень запуска</a:t>
            </a:r>
            <a:endParaRPr lang="en-US" sz="1200" dirty="0"/>
          </a:p>
        </p:txBody>
      </p:sp>
      <p:sp>
        <p:nvSpPr>
          <p:cNvPr id="11" name="Text 9"/>
          <p:cNvSpPr/>
          <p:nvPr/>
        </p:nvSpPr>
        <p:spPr>
          <a:xfrm>
            <a:off x="3225800" y="2807652"/>
            <a:ext cx="839800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D0D0D"/>
                </a:solidFill>
                <a:latin typeface="Manrope" pitchFamily="34" charset="0"/>
                <a:ea typeface="Manrope" pitchFamily="34" charset="-122"/>
                <a:cs typeface="Manrope" pitchFamily="34" charset="-120"/>
              </a:rPr>
              <a:t>Квантизация, выгрузка в RAM, дистилляция шагов, кэширование, черновой режим</a:t>
            </a:r>
            <a:endParaRPr lang="en-US" sz="1500" dirty="0"/>
          </a:p>
        </p:txBody>
      </p:sp>
      <p:sp>
        <p:nvSpPr>
          <p:cNvPr id="12" name="Shape 10"/>
          <p:cNvSpPr/>
          <p:nvPr/>
        </p:nvSpPr>
        <p:spPr>
          <a:xfrm>
            <a:off x="812800" y="3217227"/>
            <a:ext cx="10566400" cy="0"/>
          </a:xfrm>
          <a:prstGeom prst="line">
            <a:avLst/>
          </a:prstGeom>
          <a:noFill/>
          <a:ln w="6350">
            <a:solidFill>
              <a:srgbClr val="E5E5E5"/>
            </a:solidFill>
            <a:prstDash val="solid"/>
          </a:ln>
        </p:spPr>
      </p:sp>
      <p:sp>
        <p:nvSpPr>
          <p:cNvPr id="13" name="Text 11"/>
          <p:cNvSpPr/>
          <p:nvPr/>
        </p:nvSpPr>
        <p:spPr>
          <a:xfrm>
            <a:off x="812800" y="3399473"/>
            <a:ext cx="22237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Агентный уровень</a:t>
            </a:r>
            <a:endParaRPr lang="en-US" sz="1200" dirty="0"/>
          </a:p>
        </p:txBody>
      </p:sp>
      <p:sp>
        <p:nvSpPr>
          <p:cNvPr id="14" name="Text 12"/>
          <p:cNvSpPr/>
          <p:nvPr/>
        </p:nvSpPr>
        <p:spPr>
          <a:xfrm>
            <a:off x="3225800" y="3358834"/>
            <a:ext cx="839800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D0D0D"/>
                </a:solidFill>
                <a:latin typeface="Manrope" pitchFamily="34" charset="0"/>
                <a:ea typeface="Manrope" pitchFamily="34" charset="-122"/>
                <a:cs typeface="Manrope" pitchFamily="34" charset="-120"/>
              </a:rPr>
              <a:t>Языковые модели и VLM, модель замысла, подбор промпта и параметров генерации</a:t>
            </a:r>
            <a:endParaRPr lang="en-US" sz="1500" dirty="0"/>
          </a:p>
        </p:txBody>
      </p:sp>
      <p:sp>
        <p:nvSpPr>
          <p:cNvPr id="15" name="Shape 13"/>
          <p:cNvSpPr/>
          <p:nvPr/>
        </p:nvSpPr>
        <p:spPr>
          <a:xfrm>
            <a:off x="812800" y="3768409"/>
            <a:ext cx="10566400" cy="0"/>
          </a:xfrm>
          <a:prstGeom prst="line">
            <a:avLst/>
          </a:prstGeom>
          <a:noFill/>
          <a:ln w="6350">
            <a:solidFill>
              <a:srgbClr val="E5E5E5"/>
            </a:solidFill>
            <a:prstDash val="solid"/>
          </a:ln>
        </p:spPr>
      </p:sp>
      <p:sp>
        <p:nvSpPr>
          <p:cNvPr id="16" name="Shape 14"/>
          <p:cNvSpPr/>
          <p:nvPr/>
        </p:nvSpPr>
        <p:spPr>
          <a:xfrm>
            <a:off x="812800" y="4318319"/>
            <a:ext cx="10566400" cy="0"/>
          </a:xfrm>
          <a:prstGeom prst="line">
            <a:avLst/>
          </a:prstGeom>
          <a:noFill/>
          <a:ln w="6350">
            <a:solidFill>
              <a:srgbClr val="E5E5E5"/>
            </a:solidFill>
            <a:prstDash val="solid"/>
          </a:ln>
        </p:spPr>
      </p:sp>
      <p:sp>
        <p:nvSpPr>
          <p:cNvPr id="17" name="Text 15"/>
          <p:cNvSpPr/>
          <p:nvPr/>
        </p:nvSpPr>
        <p:spPr>
          <a:xfrm>
            <a:off x="812800" y="3950652"/>
            <a:ext cx="22237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Инфраструктура</a:t>
            </a:r>
            <a:endParaRPr lang="en-US" sz="1200" dirty="0"/>
          </a:p>
        </p:txBody>
      </p:sp>
      <p:sp>
        <p:nvSpPr>
          <p:cNvPr id="18" name="Text 16"/>
          <p:cNvSpPr/>
          <p:nvPr/>
        </p:nvSpPr>
        <p:spPr>
          <a:xfrm>
            <a:off x="3225800" y="3910013"/>
            <a:ext cx="839800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D0D0D"/>
                </a:solidFill>
                <a:latin typeface="Manrope" pitchFamily="34" charset="0"/>
                <a:ea typeface="Manrope" pitchFamily="34" charset="-122"/>
                <a:cs typeface="Manrope" pitchFamily="34" charset="-120"/>
              </a:rPr>
              <a:t>Linux, Docker, арендуемые потребительские GPU</a:t>
            </a:r>
            <a:endParaRPr lang="en-US" sz="1500" dirty="0"/>
          </a:p>
        </p:txBody>
      </p:sp>
      <p:sp>
        <p:nvSpPr>
          <p:cNvPr id="19" name="Text 17"/>
          <p:cNvSpPr/>
          <p:nvPr/>
        </p:nvSpPr>
        <p:spPr>
          <a:xfrm>
            <a:off x="812800" y="457549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Стек предварительный и уточняется по итогам обзора.</a:t>
            </a:r>
            <a:endParaRPr lang="en-US" sz="1200" dirty="0"/>
          </a:p>
        </p:txBody>
      </p:sp>
      <p:sp>
        <p:nvSpPr>
          <p:cNvPr id="20" name="Text 18"/>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Гоцуляк Т. С. · ВКР · МАИ, 2026</a:t>
            </a:r>
            <a:endParaRPr lang="en-US" sz="1200" dirty="0"/>
          </a:p>
        </p:txBody>
      </p:sp>
      <p:sp>
        <p:nvSpPr>
          <p:cNvPr id="21" name="Text 19"/>
          <p:cNvSpPr/>
          <p:nvPr/>
        </p:nvSpPr>
        <p:spPr>
          <a:xfrm>
            <a:off x="9417050" y="6238242"/>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E80"/>
                </a:solidFill>
                <a:latin typeface="JetBrains Mono" pitchFamily="49" charset="0"/>
                <a:ea typeface="JetBrains Mono" pitchFamily="49" charset="-122"/>
                <a:cs typeface="JetBrains Mono" pitchFamily="49" charset="-120"/>
              </a:rPr>
              <a:t>00:00:08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i="0" spc="-50" kern="0" dirty="0">
                <a:solidFill>
                  <a:srgbClr val="0D0D0D"/>
                </a:solidFill>
                <a:latin typeface="Manrope" pitchFamily="34" charset="0"/>
                <a:ea typeface="Manrope" pitchFamily="34" charset="-122"/>
                <a:cs typeface="Manrope" pitchFamily="34" charset="-120"/>
              </a:rPr>
              <a:t>Практическая значимость</a:t>
            </a:r>
            <a:endParaRPr lang="en-US" sz="3600" dirty="0"/>
          </a:p>
        </p:txBody>
      </p:sp>
      <p:sp>
        <p:nvSpPr>
          <p:cNvPr id="3" name="Shape 1"/>
          <p:cNvSpPr/>
          <p:nvPr/>
        </p:nvSpPr>
        <p:spPr>
          <a:xfrm>
            <a:off x="812800" y="1722438"/>
            <a:ext cx="3285014" cy="0"/>
          </a:xfrm>
          <a:prstGeom prst="line">
            <a:avLst/>
          </a:prstGeom>
          <a:noFill/>
          <a:ln w="19050">
            <a:solidFill>
              <a:srgbClr val="0D0D0D"/>
            </a:solidFill>
            <a:prstDash val="solid"/>
          </a:ln>
        </p:spPr>
      </p:sp>
      <p:sp>
        <p:nvSpPr>
          <p:cNvPr id="4" name="Text 2"/>
          <p:cNvSpPr/>
          <p:nvPr/>
        </p:nvSpPr>
        <p:spPr>
          <a:xfrm>
            <a:off x="812800" y="1905955"/>
            <a:ext cx="338356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D0D0D"/>
                </a:solidFill>
                <a:latin typeface="Manrope" pitchFamily="34" charset="0"/>
                <a:ea typeface="Manrope" pitchFamily="34" charset="-122"/>
                <a:cs typeface="Manrope" pitchFamily="34" charset="-120"/>
              </a:rPr>
              <a:t>Меньше правок</a:t>
            </a:r>
            <a:endParaRPr lang="en-US" sz="1800" dirty="0"/>
          </a:p>
        </p:txBody>
      </p:sp>
      <p:sp>
        <p:nvSpPr>
          <p:cNvPr id="5" name="Text 3"/>
          <p:cNvSpPr/>
          <p:nvPr/>
        </p:nvSpPr>
        <p:spPr>
          <a:xfrm>
            <a:off x="812800" y="2269176"/>
            <a:ext cx="3383564"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53740"/>
                </a:solidFill>
                <a:latin typeface="Manrope" pitchFamily="34" charset="0"/>
                <a:ea typeface="Manrope" pitchFamily="34" charset="-122"/>
                <a:cs typeface="Manrope" pitchFamily="34" charset="-120"/>
              </a:rPr>
              <a:t>Система понимает, что нужно пользователю, и не заставляет бороться с моделью за каждую деталь</a:t>
            </a:r>
            <a:endParaRPr lang="en-US" sz="1500" dirty="0"/>
          </a:p>
        </p:txBody>
      </p:sp>
      <p:sp>
        <p:nvSpPr>
          <p:cNvPr id="6" name="Shape 4"/>
          <p:cNvSpPr/>
          <p:nvPr/>
        </p:nvSpPr>
        <p:spPr>
          <a:xfrm>
            <a:off x="4453414" y="1722438"/>
            <a:ext cx="3285093" cy="0"/>
          </a:xfrm>
          <a:prstGeom prst="line">
            <a:avLst/>
          </a:prstGeom>
          <a:noFill/>
          <a:ln w="19050">
            <a:solidFill>
              <a:srgbClr val="0D0D0D"/>
            </a:solidFill>
            <a:prstDash val="solid"/>
          </a:ln>
        </p:spPr>
      </p:sp>
      <p:sp>
        <p:nvSpPr>
          <p:cNvPr id="7" name="Text 5"/>
          <p:cNvSpPr/>
          <p:nvPr/>
        </p:nvSpPr>
        <p:spPr>
          <a:xfrm>
            <a:off x="4453414" y="1905955"/>
            <a:ext cx="338364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D0D0D"/>
                </a:solidFill>
                <a:latin typeface="Manrope" pitchFamily="34" charset="0"/>
                <a:ea typeface="Manrope" pitchFamily="34" charset="-122"/>
                <a:cs typeface="Manrope" pitchFamily="34" charset="-120"/>
              </a:rPr>
              <a:t>Ёмкость сервиса</a:t>
            </a:r>
            <a:endParaRPr lang="en-US" sz="1800" dirty="0"/>
          </a:p>
        </p:txBody>
      </p:sp>
      <p:sp>
        <p:nvSpPr>
          <p:cNvPr id="8" name="Text 6"/>
          <p:cNvSpPr/>
          <p:nvPr/>
        </p:nvSpPr>
        <p:spPr>
          <a:xfrm>
            <a:off x="4453414" y="2269176"/>
            <a:ext cx="3383646"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53740"/>
                </a:solidFill>
                <a:latin typeface="Manrope" pitchFamily="34" charset="0"/>
                <a:ea typeface="Manrope" pitchFamily="34" charset="-122"/>
                <a:cs typeface="Manrope" pitchFamily="34" charset="-120"/>
              </a:rPr>
              <a:t>Меньше GPU-времени на принятый ролик, больше клиентов на тех же картах</a:t>
            </a:r>
            <a:endParaRPr lang="en-US" sz="1500" dirty="0"/>
          </a:p>
        </p:txBody>
      </p:sp>
      <p:sp>
        <p:nvSpPr>
          <p:cNvPr id="9" name="Shape 7"/>
          <p:cNvSpPr/>
          <p:nvPr/>
        </p:nvSpPr>
        <p:spPr>
          <a:xfrm>
            <a:off x="8094107" y="1722438"/>
            <a:ext cx="3285093" cy="0"/>
          </a:xfrm>
          <a:prstGeom prst="line">
            <a:avLst/>
          </a:prstGeom>
          <a:noFill/>
          <a:ln w="19050">
            <a:solidFill>
              <a:srgbClr val="0D0D0D"/>
            </a:solidFill>
            <a:prstDash val="solid"/>
          </a:ln>
        </p:spPr>
      </p:sp>
      <p:sp>
        <p:nvSpPr>
          <p:cNvPr id="10" name="Text 8"/>
          <p:cNvSpPr/>
          <p:nvPr/>
        </p:nvSpPr>
        <p:spPr>
          <a:xfrm>
            <a:off x="8094107" y="1905955"/>
            <a:ext cx="338364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D0D0D"/>
                </a:solidFill>
                <a:latin typeface="Manrope" pitchFamily="34" charset="0"/>
                <a:ea typeface="Manrope" pitchFamily="34" charset="-122"/>
                <a:cs typeface="Manrope" pitchFamily="34" charset="-120"/>
              </a:rPr>
              <a:t>Переносимость</a:t>
            </a:r>
            <a:endParaRPr lang="en-US" sz="1800" dirty="0"/>
          </a:p>
        </p:txBody>
      </p:sp>
      <p:sp>
        <p:nvSpPr>
          <p:cNvPr id="11" name="Text 9"/>
          <p:cNvSpPr/>
          <p:nvPr/>
        </p:nvSpPr>
        <p:spPr>
          <a:xfrm>
            <a:off x="8094107" y="2269176"/>
            <a:ext cx="3383646"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53740"/>
                </a:solidFill>
                <a:latin typeface="Manrope" pitchFamily="34" charset="0"/>
                <a:ea typeface="Manrope" pitchFamily="34" charset="-122"/>
                <a:cs typeface="Manrope" pitchFamily="34" charset="-120"/>
              </a:rPr>
              <a:t>Подход применим к другим открытым видеомоделям и конфигурациям GPU</a:t>
            </a:r>
            <a:endParaRPr lang="en-US" sz="1500" dirty="0"/>
          </a:p>
        </p:txBody>
      </p:sp>
      <p:sp>
        <p:nvSpPr>
          <p:cNvPr id="12" name="Text 10"/>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Гоцуляк Т. С. · ВКР · МАИ, 2026</a:t>
            </a:r>
            <a:endParaRPr lang="en-US" sz="1200" dirty="0"/>
          </a:p>
        </p:txBody>
      </p:sp>
      <p:sp>
        <p:nvSpPr>
          <p:cNvPr id="13" name="Text 11"/>
          <p:cNvSpPr/>
          <p:nvPr/>
        </p:nvSpPr>
        <p:spPr>
          <a:xfrm>
            <a:off x="9417050" y="6238242"/>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E80"/>
                </a:solidFill>
                <a:latin typeface="JetBrains Mono" pitchFamily="49" charset="0"/>
                <a:ea typeface="JetBrains Mono" pitchFamily="49" charset="-122"/>
                <a:cs typeface="JetBrains Mono" pitchFamily="49" charset="-120"/>
              </a:rPr>
              <a:t>00:00:09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i="0" spc="-50" kern="0" dirty="0">
                <a:solidFill>
                  <a:srgbClr val="0D0D0D"/>
                </a:solidFill>
                <a:latin typeface="Manrope" pitchFamily="34" charset="0"/>
                <a:ea typeface="Manrope" pitchFamily="34" charset="-122"/>
                <a:cs typeface="Manrope" pitchFamily="34" charset="-120"/>
              </a:rPr>
              <a:t>Ожидаемые результаты</a:t>
            </a:r>
            <a:endParaRPr lang="en-US" sz="3600" dirty="0"/>
          </a:p>
        </p:txBody>
      </p:sp>
      <p:sp>
        <p:nvSpPr>
          <p:cNvPr id="3" name="Shape 1"/>
          <p:cNvSpPr/>
          <p:nvPr/>
        </p:nvSpPr>
        <p:spPr>
          <a:xfrm>
            <a:off x="812800" y="1563688"/>
            <a:ext cx="10566400" cy="0"/>
          </a:xfrm>
          <a:prstGeom prst="line">
            <a:avLst/>
          </a:prstGeom>
          <a:noFill/>
          <a:ln w="6350">
            <a:solidFill>
              <a:srgbClr val="E5E5E5"/>
            </a:solidFill>
            <a:prstDash val="solid"/>
          </a:ln>
        </p:spPr>
      </p:sp>
      <p:sp>
        <p:nvSpPr>
          <p:cNvPr id="4" name="Text 2"/>
          <p:cNvSpPr/>
          <p:nvPr/>
        </p:nvSpPr>
        <p:spPr>
          <a:xfrm>
            <a:off x="812800" y="1705291"/>
            <a:ext cx="457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D0D0D"/>
                </a:solidFill>
                <a:latin typeface="JetBrains Mono" pitchFamily="49" charset="0"/>
                <a:ea typeface="JetBrains Mono" pitchFamily="49" charset="-122"/>
                <a:cs typeface="JetBrains Mono" pitchFamily="49" charset="-120"/>
              </a:rPr>
              <a:t>01</a:t>
            </a:r>
            <a:endParaRPr lang="en-US" sz="1500" dirty="0"/>
          </a:p>
        </p:txBody>
      </p:sp>
      <p:sp>
        <p:nvSpPr>
          <p:cNvPr id="5" name="Text 3"/>
          <p:cNvSpPr/>
          <p:nvPr/>
        </p:nvSpPr>
        <p:spPr>
          <a:xfrm>
            <a:off x="1473200" y="1705291"/>
            <a:ext cx="102031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D0D0D"/>
                </a:solidFill>
                <a:latin typeface="Manrope" pitchFamily="34" charset="0"/>
                <a:ea typeface="Manrope" pitchFamily="34" charset="-122"/>
                <a:cs typeface="Manrope" pitchFamily="34" charset="-120"/>
              </a:rPr>
              <a:t>Классификация открытых видеомоделей, GPU, методов ускорения и агентных сервисов</a:t>
            </a:r>
            <a:endParaRPr lang="en-US" sz="1500" dirty="0"/>
          </a:p>
        </p:txBody>
      </p:sp>
      <p:sp>
        <p:nvSpPr>
          <p:cNvPr id="6" name="Shape 4"/>
          <p:cNvSpPr/>
          <p:nvPr/>
        </p:nvSpPr>
        <p:spPr>
          <a:xfrm>
            <a:off x="812800" y="2114866"/>
            <a:ext cx="10566400" cy="0"/>
          </a:xfrm>
          <a:prstGeom prst="line">
            <a:avLst/>
          </a:prstGeom>
          <a:noFill/>
          <a:ln w="6350">
            <a:solidFill>
              <a:srgbClr val="E5E5E5"/>
            </a:solidFill>
            <a:prstDash val="solid"/>
          </a:ln>
        </p:spPr>
      </p:sp>
      <p:sp>
        <p:nvSpPr>
          <p:cNvPr id="7" name="Text 5"/>
          <p:cNvSpPr/>
          <p:nvPr/>
        </p:nvSpPr>
        <p:spPr>
          <a:xfrm>
            <a:off x="812800" y="2256476"/>
            <a:ext cx="457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D0D0D"/>
                </a:solidFill>
                <a:latin typeface="JetBrains Mono" pitchFamily="49" charset="0"/>
                <a:ea typeface="JetBrains Mono" pitchFamily="49" charset="-122"/>
                <a:cs typeface="JetBrains Mono" pitchFamily="49" charset="-120"/>
              </a:rPr>
              <a:t>02</a:t>
            </a:r>
            <a:endParaRPr lang="en-US" sz="1500" dirty="0"/>
          </a:p>
        </p:txBody>
      </p:sp>
      <p:sp>
        <p:nvSpPr>
          <p:cNvPr id="8" name="Text 6"/>
          <p:cNvSpPr/>
          <p:nvPr/>
        </p:nvSpPr>
        <p:spPr>
          <a:xfrm>
            <a:off x="1473200" y="2256476"/>
            <a:ext cx="102031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D0D0D"/>
                </a:solidFill>
                <a:latin typeface="Manrope" pitchFamily="34" charset="0"/>
                <a:ea typeface="Manrope" pitchFamily="34" charset="-122"/>
                <a:cs typeface="Manrope" pitchFamily="34" charset="-120"/>
              </a:rPr>
              <a:t>Экспериментальные данные о том, как методы запуска влияют на стоимость попытки и качество</a:t>
            </a:r>
            <a:endParaRPr lang="en-US" sz="1500" dirty="0"/>
          </a:p>
        </p:txBody>
      </p:sp>
      <p:sp>
        <p:nvSpPr>
          <p:cNvPr id="9" name="Shape 7"/>
          <p:cNvSpPr/>
          <p:nvPr/>
        </p:nvSpPr>
        <p:spPr>
          <a:xfrm>
            <a:off x="812800" y="2666051"/>
            <a:ext cx="10566400" cy="0"/>
          </a:xfrm>
          <a:prstGeom prst="line">
            <a:avLst/>
          </a:prstGeom>
          <a:noFill/>
          <a:ln w="6350">
            <a:solidFill>
              <a:srgbClr val="E5E5E5"/>
            </a:solidFill>
            <a:prstDash val="solid"/>
          </a:ln>
        </p:spPr>
      </p:sp>
      <p:sp>
        <p:nvSpPr>
          <p:cNvPr id="10" name="Text 8"/>
          <p:cNvSpPr/>
          <p:nvPr/>
        </p:nvSpPr>
        <p:spPr>
          <a:xfrm>
            <a:off x="812800" y="2807655"/>
            <a:ext cx="457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D0D0D"/>
                </a:solidFill>
                <a:latin typeface="JetBrains Mono" pitchFamily="49" charset="0"/>
                <a:ea typeface="JetBrains Mono" pitchFamily="49" charset="-122"/>
                <a:cs typeface="JetBrains Mono" pitchFamily="49" charset="-120"/>
              </a:rPr>
              <a:t>03</a:t>
            </a:r>
            <a:endParaRPr lang="en-US" sz="1500" dirty="0"/>
          </a:p>
        </p:txBody>
      </p:sp>
      <p:sp>
        <p:nvSpPr>
          <p:cNvPr id="11" name="Text 9"/>
          <p:cNvSpPr/>
          <p:nvPr/>
        </p:nvSpPr>
        <p:spPr>
          <a:xfrm>
            <a:off x="1473200" y="2807655"/>
            <a:ext cx="102031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D0D0D"/>
                </a:solidFill>
                <a:latin typeface="Manrope" pitchFamily="34" charset="0"/>
                <a:ea typeface="Manrope" pitchFamily="34" charset="-122"/>
                <a:cs typeface="Manrope" pitchFamily="34" charset="-120"/>
              </a:rPr>
              <a:t>Алгоритм понимания замысла и подбора параметров генерации с явной моделью замысла</a:t>
            </a:r>
            <a:endParaRPr lang="en-US" sz="1500" dirty="0"/>
          </a:p>
        </p:txBody>
      </p:sp>
      <p:sp>
        <p:nvSpPr>
          <p:cNvPr id="12" name="Shape 10"/>
          <p:cNvSpPr/>
          <p:nvPr/>
        </p:nvSpPr>
        <p:spPr>
          <a:xfrm>
            <a:off x="812800" y="3217230"/>
            <a:ext cx="10566400" cy="0"/>
          </a:xfrm>
          <a:prstGeom prst="line">
            <a:avLst/>
          </a:prstGeom>
          <a:noFill/>
          <a:ln w="6350">
            <a:solidFill>
              <a:srgbClr val="E5E5E5"/>
            </a:solidFill>
            <a:prstDash val="solid"/>
          </a:ln>
        </p:spPr>
      </p:sp>
      <p:sp>
        <p:nvSpPr>
          <p:cNvPr id="13" name="Text 11"/>
          <p:cNvSpPr/>
          <p:nvPr/>
        </p:nvSpPr>
        <p:spPr>
          <a:xfrm>
            <a:off x="812800" y="3358834"/>
            <a:ext cx="457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D0D0D"/>
                </a:solidFill>
                <a:latin typeface="JetBrains Mono" pitchFamily="49" charset="0"/>
                <a:ea typeface="JetBrains Mono" pitchFamily="49" charset="-122"/>
                <a:cs typeface="JetBrains Mono" pitchFamily="49" charset="-120"/>
              </a:rPr>
              <a:t>04</a:t>
            </a:r>
            <a:endParaRPr lang="en-US" sz="1500" dirty="0"/>
          </a:p>
        </p:txBody>
      </p:sp>
      <p:sp>
        <p:nvSpPr>
          <p:cNvPr id="14" name="Text 12"/>
          <p:cNvSpPr/>
          <p:nvPr/>
        </p:nvSpPr>
        <p:spPr>
          <a:xfrm>
            <a:off x="1473200" y="3358834"/>
            <a:ext cx="102031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D0D0D"/>
                </a:solidFill>
                <a:latin typeface="Manrope" pitchFamily="34" charset="0"/>
                <a:ea typeface="Manrope" pitchFamily="34" charset="-122"/>
                <a:cs typeface="Manrope" pitchFamily="34" charset="-120"/>
              </a:rPr>
              <a:t>Прототип программного обеспечения</a:t>
            </a:r>
            <a:endParaRPr lang="en-US" sz="1500" dirty="0"/>
          </a:p>
        </p:txBody>
      </p:sp>
      <p:sp>
        <p:nvSpPr>
          <p:cNvPr id="15" name="Shape 13"/>
          <p:cNvSpPr/>
          <p:nvPr/>
        </p:nvSpPr>
        <p:spPr>
          <a:xfrm>
            <a:off x="812800" y="3768409"/>
            <a:ext cx="10566400" cy="0"/>
          </a:xfrm>
          <a:prstGeom prst="line">
            <a:avLst/>
          </a:prstGeom>
          <a:noFill/>
          <a:ln w="6350">
            <a:solidFill>
              <a:srgbClr val="E5E5E5"/>
            </a:solidFill>
            <a:prstDash val="solid"/>
          </a:ln>
        </p:spPr>
      </p:sp>
      <p:sp>
        <p:nvSpPr>
          <p:cNvPr id="16" name="Shape 14"/>
          <p:cNvSpPr/>
          <p:nvPr/>
        </p:nvSpPr>
        <p:spPr>
          <a:xfrm>
            <a:off x="812800" y="4565969"/>
            <a:ext cx="10566400" cy="0"/>
          </a:xfrm>
          <a:prstGeom prst="line">
            <a:avLst/>
          </a:prstGeom>
          <a:noFill/>
          <a:ln w="6350">
            <a:solidFill>
              <a:srgbClr val="E5E5E5"/>
            </a:solidFill>
            <a:prstDash val="solid"/>
          </a:ln>
        </p:spPr>
      </p:sp>
      <p:sp>
        <p:nvSpPr>
          <p:cNvPr id="17" name="Text 15"/>
          <p:cNvSpPr/>
          <p:nvPr/>
        </p:nvSpPr>
        <p:spPr>
          <a:xfrm>
            <a:off x="812800" y="3910013"/>
            <a:ext cx="457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D0D0D"/>
                </a:solidFill>
                <a:latin typeface="JetBrains Mono" pitchFamily="49" charset="0"/>
                <a:ea typeface="JetBrains Mono" pitchFamily="49" charset="-122"/>
                <a:cs typeface="JetBrains Mono" pitchFamily="49" charset="-120"/>
              </a:rPr>
              <a:t>05</a:t>
            </a:r>
            <a:endParaRPr lang="en-US" sz="1500" dirty="0"/>
          </a:p>
        </p:txBody>
      </p:sp>
      <p:sp>
        <p:nvSpPr>
          <p:cNvPr id="18" name="Text 16"/>
          <p:cNvSpPr/>
          <p:nvPr/>
        </p:nvSpPr>
        <p:spPr>
          <a:xfrm>
            <a:off x="1473200" y="3910013"/>
            <a:ext cx="1020318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D0D0D"/>
                </a:solidFill>
                <a:latin typeface="Manrope" pitchFamily="34" charset="0"/>
                <a:ea typeface="Manrope" pitchFamily="34" charset="-122"/>
                <a:cs typeface="Manrope" pitchFamily="34" charset="-120"/>
              </a:rPr>
              <a:t>Оценка числа итераций, регрессий и GPU-времени на принятый ролик в сравнении с генерацией по исходному промпту и агентом на истории промптов</a:t>
            </a:r>
            <a:endParaRPr lang="en-US" sz="1500" dirty="0"/>
          </a:p>
        </p:txBody>
      </p:sp>
      <p:sp>
        <p:nvSpPr>
          <p:cNvPr id="19" name="Text 17"/>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E80"/>
                </a:solidFill>
                <a:latin typeface="Manrope" pitchFamily="34" charset="0"/>
                <a:ea typeface="Manrope" pitchFamily="34" charset="-122"/>
                <a:cs typeface="Manrope" pitchFamily="34" charset="-120"/>
              </a:rPr>
              <a:t>Гоцуляк Т. С. · ВКР · МАИ, 2026</a:t>
            </a:r>
            <a:endParaRPr lang="en-US" sz="1200" dirty="0"/>
          </a:p>
        </p:txBody>
      </p:sp>
      <p:sp>
        <p:nvSpPr>
          <p:cNvPr id="20" name="Text 18"/>
          <p:cNvSpPr/>
          <p:nvPr/>
        </p:nvSpPr>
        <p:spPr>
          <a:xfrm>
            <a:off x="9417050" y="6238242"/>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E80"/>
                </a:solidFill>
                <a:latin typeface="JetBrains Mono" pitchFamily="49" charset="0"/>
                <a:ea typeface="JetBrains Mono" pitchFamily="49" charset="-122"/>
                <a:cs typeface="JetBrains Mono" pitchFamily="49" charset="-120"/>
              </a:rPr>
              <a:t>00:00:10</a:t>
            </a:r>
            <a:endParaRPr lang="en-US" sz="1200" dirty="0"/>
          </a:p>
        </p:txBody>
      </p:sp>
    </p:spTree>
  </p:cSld>
  <p:clrMapOvr>
    <a:masterClrMapping/>
  </p:clrMapOvr>
</p:sld>
</file>

<file path=ppt/theme/theme1.xml><?xml version="1.0" encoding="utf-8"?>
<a:theme xmlns:a="http://schemas.openxmlformats.org/drawingml/2006/main" name="ВКР Гоцуляк">
  <a:themeElements>
    <a:clrScheme name="ВКР Гоцуляк">
      <a:dk1>
        <a:srgbClr val="0D0D0D"/>
      </a:dk1>
      <a:lt1>
        <a:srgbClr val="FFFFFF"/>
      </a:lt1>
      <a:dk2>
        <a:srgbClr val="4A4A4A"/>
      </a:dk2>
      <a:lt2>
        <a:srgbClr val="E7E7E7"/>
      </a:lt2>
      <a:accent1>
        <a:srgbClr val="6E6E80"/>
      </a:accent1>
      <a:accent2>
        <a:srgbClr val="D4D4DA"/>
      </a:accent2>
      <a:accent3>
        <a:srgbClr val="353740"/>
      </a:accent3>
      <a:accent4>
        <a:srgbClr val="BDBDC6"/>
      </a:accent4>
      <a:accent5>
        <a:srgbClr val="CFCFD6"/>
      </a:accent5>
      <a:accent6>
        <a:srgbClr val="9AA0A6"/>
      </a:accent6>
      <a:hlink>
        <a:srgbClr val="0563C1"/>
      </a:hlink>
      <a:folHlink>
        <a:srgbClr val="954F72"/>
      </a:folHlink>
    </a:clrScheme>
    <a:fontScheme name="ВКР Гоцуляк">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nrop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ВКР Гоцуляк</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Manrope
Copyright 2018 The Manrope Project Authors (https://github.com/sharanda/manrope)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2026-10-25T22:46:16Z</dcterms:created>
  <dcterms:modified xsi:type="dcterms:W3CDTF">2026-10-25T22:46:16Z</dcterms:modified>
</cp:coreProperties>
</file>